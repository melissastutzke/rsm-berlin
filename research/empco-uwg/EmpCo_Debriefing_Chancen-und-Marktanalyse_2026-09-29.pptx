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Firmen</c:v>
                </c:pt>
              </c:strCache>
            </c:strRef>
          </c:tx>
          <c:spPr>
            <a:solidFill>
              <a:schemeClr val="accent1"/>
            </a:solidFill>
            <a:ln w="9525" cap="flat">
              <a:solidFill>
                <a:srgbClr val="F9F9F9"/>
              </a:solidFill>
              <a:prstDash val="solid"/>
              <a:round/>
            </a:ln>
            <a:effectLst/>
          </c:spPr>
          <c:dPt>
            <c:idx val="0"/>
            <c:bubble3D val="0"/>
            <c:spPr>
              <a:solidFill>
                <a:srgbClr val="B04A16"/>
              </a:solidFill>
              <a:ln w="19050" cap="flat">
                <a:solidFill>
                  <a:srgbClr val="FFFFFF"/>
                </a:solidFill>
                <a:prstDash val="solid"/>
                <a:round/>
              </a:ln>
              <a:effectLst/>
            </c:spPr>
          </c:dPt>
          <c:dPt>
            <c:idx val="1"/>
            <c:bubble3D val="0"/>
            <c:spPr>
              <a:solidFill>
                <a:srgbClr val="1F6F63"/>
              </a:solidFill>
              <a:ln w="19050" cap="flat">
                <a:solidFill>
                  <a:srgbClr val="FFFFFF"/>
                </a:solidFill>
                <a:prstDash val="solid"/>
                <a:round/>
              </a:ln>
              <a:effectLst/>
            </c:spPr>
          </c:dPt>
          <c:dPt>
            <c:idx val="2"/>
            <c:bubble3D val="0"/>
            <c:spPr>
              <a:solidFill>
                <a:srgbClr val="AEB8C4"/>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Mindestens ein Verstoß</c:v>
                </c:pt>
                <c:pt idx="1">
                  <c:v>Regelkonform</c:v>
                </c:pt>
                <c:pt idx="2">
                  <c:v>Kein eindeutiges Urteil</c:v>
                </c:pt>
              </c:strCache>
            </c:strRef>
          </c:cat>
          <c:val>
            <c:numRef>
              <c:f>Sheet1!$B$2:$B$4</c:f>
              <c:numCache>
                <c:ptCount val="3"/>
                <c:pt idx="0">
                  <c:v>176</c:v>
                </c:pt>
                <c:pt idx="1">
                  <c:v>167</c:v>
                </c:pt>
                <c:pt idx="2">
                  <c:v>2</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Debriefing zur eigenen Analyse „Chancen EmpCo + Marktanalyse“ (Word-Dokument, Stand 29.09.2026).
Aufbau: Kernergebnisse und Reality Check, dann die fünf Leitfragen (Branchen, Assurance-Grad, Managementsystem, Sicht anderer Häuser, USPs und Marktangebot), Fazit und Diskussionspunkte. Quellen mit Links auf der letzten Folie.
Grundlage ist eine Desk-Recherche öffentlicher Veröffentlichungen; keine Rechtsberatung. Normzitate vor externer Verwendung am Original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Kernergebnisse der Analyse:
1. Betroffenheit: Besonders betroffen sind Branchen, in denen viel mit grünen Versprechen geworben wird oder Reparatur-, Haltbarkeits- und Gewährleistungsaussagen eine Rolle spielen (Folie 5).
2. Assurance: EmpCo schreibt keine Prüfung aller Claims vor. Es gilt eine Nachweispflicht; Drittprüfung nur bei Siegeln (Zertifizierung mit unabhängiger Überwachung) und bei Umsetzungsplänen für Zukunftsaussagen (Folie 6).
3. Managementsystem: Viele Abteilungen, IT-Änderungen, externe Belege, dauerhaftes Monitoring; der Reifegrad der bestehenden Systeme entscheidet (Folie 7).
4. Markt: Keine strukturellen Vorreiterpositionen; das Angebot ist breit und austauschbar. Es geht um Zeitvorsprung und ein Kernangebot vom Reifegrad-Check bis zum Monitoring (Folien 8 bis 12).
Reality Check: Von 345 Firmen, die aktiv mit Nachhaltigkeitsaussagen werben, weisen 176 (51 %) mindestens einen Verstoß auf; 167 (48 %) kommunizieren regelkonform; bei 2 Firmen war kein eindeutiges Urteil möglich (Haufe; Studie von Wortliga und media4nature, 08/2026).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Analyse folgt fünf Leitfragen. Die Folienverweise zeigen, wo die Antworten stehen. Ausgewertet wurden öffentliche Veröffentlichungen von Beratungshäusern, des Berufsstands (WPK, IDW), die EU-Richtlinie 2024/825 sowie Fachmedien und eine Studie von Wortliga und media4nature.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 Haufe, „Studie: Jede zweite Firma kommuniziert regelwidrig“; Studie von Wortliga und media4nature, sieben Wochen vor dem Stichtag.
Firmenebene (auf der Folie): Von 345 Firmen, die aktiv mit Nachhaltigkeitsaussagen werben, weisen 176 (51 %) mindestens einen Verstoß auf. 167 (48 %) kommunizieren regelkonform, bei 2 Firmen war kein eindeutiges Urteil möglich.
Websiteebene (ergänzend, laut Zusammenfassung des Haufe-Beitrags): 181 von 476 Websites (38 %) verstoßen gegen die Prüfkriterien, 170 (36 %) erfüllen sie vollständig, 124 enthalten keine eigenen Nachhaltigkeitsaussagen.
Häufigste Fehler laut Zusammenfassung: vage Begriffe wie „grün“ ohne Beleg im selben sichtbaren Bereich (100 Fälle), Vergleiche ohne Basisjahr (57 Fälle), „klimaneutral“ auf Basis von Kompensation auf 42 Websites.
Botschaft: Unabhängig davon, ob wir einen USP finden, ist der Bedarf im Markt vorhanden.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Fünf Branchen nennt KPMG („EmpCo 2026: Neue Regeln für Umweltangaben“):
Automobil: Das gesamte Ökosystem muss über den Lebenszyklus verfügbar bleiben, einschließlich digitaler Services wie Infotainment oder Software-Funktionen. Endet die Verfügbarkeit, sind Kundinnen und Kunden aktiv zu informieren; unklare Kommunikation birgt Reputationsrisiken.
Konsumgüter: nachweislich langlebig, reparierbar, transparente Aussagen zu Updates und Ersatzteilen. Unzureichende Informationen können als Verstoß gegen das Recht auf Reparatur angreifbar sein.
Elektronik: Dauer von Funktions- und Sicherheitsupdates benennen; läuft der Support aus, können in bestimmten Fällen Open-Source-Lösungen als Übergang nötig werden.
Händler und Vorprodukte: Umweltinformationen korrekt und vollständig entlang der Lieferkette weitergeben, auch für Komponenten; Fehler lösen Haftungsrisiken für nachgelagerte Marktteilnehmer aus.
Digitale Plattformen: Web- und App-Services mit Umweltangaben unterliegen den Transparenzpflichten; Aussagen müssen nachvollziehbar, überprüfbar und dauerhaft dokumentiert sein.
Energie (Rödl &amp; Partner, „EmpCo: Was Stadtwerke bei Umweltclaims beachten müssen“): inflationäres Aufkommen grüner Claims wie Ökostrom, grünes Erdgas, „klimaneutral“.
Übergreifend: Betroffen sind Branchen mit vielen grünen Versprechen oder mit Reparaturaussagen; EmpCo berührt auch Gewährleistung, Haltbarkeit und Reparierbarkeit.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EmpCo schreibt keine Prüfung aller Claims vor. Es gilt eine Nachweispflicht: Eine Abmahnung kann jederzeit kommen, dann müssen die Belege vorliegen.
Siegel, ErwG 7 der RL (EU) 2024/825: Siegel, die nicht auf einem Zertifizierungssystem beruhen oder nicht staatlich festgesetzt sind, sollen verboten sein. Das Zertifizierungssystem muss eine objektive Überwachung durch einen Dritten vorsehen, dessen Kompetenz und Unabhängigkeit vom Systeminhaber und vom Gewerbetreibenden auf Grundlage internationaler, unionsweiter oder nationaler Normen sichergestellt ist.
Zukunftsaussagen, ErwG 4: Die Aussagen sollen von einem externen Sachverständigen überprüft werden, der vom Gewerbetreibenden unabhängig ist, keine Interessenkonflikte hat, Erfahrung und Kompetenz in Umweltfragen besitzt und den Fortschritt einschließlich der Etappenziele regelmäßig überwacht. Die Ergebnisse sind den Verbrauchern zur Verfügung zu stellen.
WPK: Der Umsetzungsplan muss messbare und zeitgebundene Ziele sowie weitere Elemente wie die Zuweisung von Ressourcen umfassen und regelmäßig von einem unabhängigen externen Sachverständigen überprüft werden. Als sachkundige Sachverständige kommen der Gesetzesbegründung zufolge auch Wirtschaftsprüfer und Abschlussprüfer in Betracht („weiteres Betätigungsfeld für den Berufsstand“).
IDW: Mustervermerke zur Prüfung von Umsetzungsplänen für künftige Umweltleistungen (22.09.2026); Pressemitteilung „UWG-Novelle führt zu Rechtsunsicherheit bei Nachhaltigkeitsaussagen“.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Sechs identifizierte Schwachstellen bei der Einbindung ins Managementsystem:
1. IT: gegebenenfalls ausgeprägte IT-Änderungen (PwC-Blog „Umweltbezogene Angaben und Nachhaltigkeitskennzeichnungen: Was Unternehmen im Jahr 2026 wissen müssen“).
2. Externe Belege: Nicht nur eigene Systeme und Belege sind relevant, sondern auch Kommunikation auf Grundlage bestehender oder künftiger Verträge; potenziell wenig Primärinformationen (Rödl).
3. Viele Abteilungen: Menge der Claims und Kanäle treibt den Aufwand; das Marketing dürfte Hauptentstehungsort sein, nicht standardmäßig Einkauf oder Vertrieb. PwC fordert einen „Schulterschluss“ der Funktionen (Zitat rechts).
4. Querschnittsthema: Green Claims berühren Markenführung, Risikomanagement, Compliance und Nachhaltigkeitsstrategie zugleich (PwC, „Green Claims: Stresstest für die Governance?“).
5. Monitoring: Es braucht ein dauerhaft laufendes Monitoring, weil regelmäßig neue Claims hinzukommen. Offene Frage: Kollision mit Prozessen der internen Revision?
6. National: Die Umsetzung ist im nationalen Recht geregelt; das System muss abbilden, dass sich die Umsetzung unterscheiden kann.
Fazit der Folie: Von großer Bedeutung ist der aktuelle Reifegrad der bestehenden Systeme und wie stark sie im Unternehmen gelebt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Chancen-Narrativ:
KPMG („EmpCo 2026: Neue Regeln für Umweltangaben“): EmpCo als Treiber für Innovation und neue Modelle wie Leasing oder Sharing; Differenzierung durch Lebenszyklusmanagement, längere Nutzungsdauer und ernsthaftere Nachhaltigkeitskommunikation; volle Lebenszyklus-Verantwortung übernehmen; Abhebung von der „Greenwashing-Konkurrenz“.
Simon-Kucher (Pressemitteilung vom 28.09.2026, Verpackungsindustrie): stärker auf tatsächlich umgesetzte nachhaltige Wertschöpfung setzen statt nur auf Kommunikation; belegbare Nachhaltigkeitsleistungen als Differenzierungspotenzial; stärkere Grundlage für klare, glaubhafte Kommunikation.
EY Österreich: Glaubwürdigkeit von Nachhaltigkeitsinformationen als Wettbewerbsvorteil; Angebot umfasst neben der Prozesseinbettung die Berechnung ökologischer Kennzahlen, Analysen entlang der Wertschöpfungskette und die rechtliche Einordnung konkreter Claims (Portfolio auf Folie 9).
PwC („Green Claims: Stresstest für die Governance?“): Unternehmen müssen entscheiden, welche Umweltleistungen sie tatsächlich erbringen wollen.
Risiko- und Compliance-Fokus: Deloitte Österreich (kostenloser Quick-Check; „etablierte Kontrollen“: Ein Aufbau des IKS reduziert das Greenwashing-Risiko), Rödl &amp; Partner (aktive Risikosteuerung, kritische Umsetzung der Nachhaltigkeitsziele), Grant Thornton Österreich (Optimierung interner Compliance-Prozesse als Stärkung und Ergänzung, keine Neuschaffung; KI-Schnellcheck).
Indirekt: McKinsey und Bain äußern sich positiv dazu, dass Kunden Nachhaltigkeit wichtig ist und sie teils dafür zahlen; keine präzisen Aussagen zu EmpCo. Deloitte Insights (EU 2025 Outlook) erwartet, dass der Fokus auf der Wertschöpfungskette anhält; Optimierung bringt Widerstandsfähigkeit und Effizienz.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aus der Recherche: EY Österreich listet für EmpCo sechs Leistungen: Bewusstseinsbildungsworkshop, Risiko-Screening der Nachhaltigkeitskommunikation, Green Claims Check, Gap-Assessment gegenüber EmpCo-Vorgaben, Guideline und Prozessverankerung sowie Schaffung der Datengrundlage.
Hinzu kommen laut EY die Berechnung ökologischer Kennzahlen, Analysen entlang der Wertschöpfungskette und die rechtliche Einordnung konkreter Claims.
Botschaft: Die Kette von der Sensibilisierung bis zur Datengrundlage gibt es am Markt bereits. Wer sich abheben will, braucht mehr als die Prozesskette.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der Markt tatsächlich verkauft, geordnet in vier Gruppen (Liste aus der Recherche, 15 Leistungen):
Wissen und Befähigung: Wissen und Updates (z. B. Rödl-Flyer), Schulungen und Workshops.
Screening und Bewertung: Claim-Screening und Ampel-Einstufung, Claim-Quick-Check (u. a. TÜV Rheinland „Green Claims Quick Check“), Risikoanalyse, Readiness-Bewertung, strukturierte Prüfung einzelner Claims, rechtliche Bewertung im Einzelfall.
Umsetzung: Aufbau von Belegen, Framework und Governance-Design, Identifizierung und Umsetzungsunterstützung von Maßnahmen, Umstellung von Labels und Kommunikation.
Absicherung und Technik: Verifizierung und Prüfung, Krisenbegleitung, Software und einfache KI-Scans. KI wird eher bei der Identifizierung der Claims eingesetzt, nicht bei der Entscheidung (Haufe, „Green Claims: Vom Rechtscheck zum dauerhaften Prüfprozess“).
Die Gruppierung stammt aus der Aufbereitung für diese Folie; die einzelnen Leistungen aus der 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USP-Ideen aus der Analyse („Aus einem Risiko eine Chance machen“):
1. Claim-Bibliothek statt Greenhushing: Unterstützung beim Aufbau einer Bibliothek freigegebener Formulierungen. Bewertung: kein klarer USP.
2. Verbindung mit einer Konsumentenstudie: Wo bringt eine tatsächliche Verbesserung der Nachhaltigkeitsmaßnahmen und deren Kommunikation einen Mehrwert? Bewertung: hoher Aufwand.
3. Grundlegender Nachhaltigkeitsansatz: wird als relevant angesehen. Welche Claims werden erreicht, welche nicht; Verknüpfung von Unternehmen, Kunde und Nachhaltigkeitsstrategie.
Ideen zur Vertiefung aus den Kommentaren: Analyse messbarer Verbesserungen (Materialreduktion, bessere Recyclingfähigkeit, Einsatz von Rezyklaten), anknüpfend an Simon-Kucher; Analyse möglicher Problematiken in der Wertschöpfungskette anhand identifizierter nicht zugelassener Green Claims, anknüpfend an Deloitte.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der Analyse:
1. Es konnten keine strukturellen Vorreiterpositionen festgestellt werden.
2. Es geht um Zeitvorsprung und um die Begleitung der Regulierungsumsetzung in allen berührten Bereichen.
3. Ein Kernangebot sollte alle wichtigen Faktoren abdecken, vom Reifegrad-Check bis zu einem anhaltenden Monitoring-Prozess.
4. Der Aufbau einer Claim-Bibliothek beugt Greenhushing vor.
Hinweis: Die Zwischenschritte der Kette (Bewertung der Claims, Belege und Claim-Bibliothek, Prozesse und Governance) sind eine Skizze auf Basis der Marktübersicht auf Folie 10; das Dokument nennt Anfang und Ende (Reifegrad-Check, Monitoring) und die Claim-Bibliothek.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Vorschlag für die Diskussion, abgeleitet aus der Analyse:
1. Kernangebot: Das Fazit empfiehlt ein Kernangebot vom Reifegrad-Check bis zum Monitoring. Welche Bausteine gehören dazu?
2. Zeitvorsprung: Das Fazit sieht den Vorteil im Tempo. Wo sind wir schneller, etwa mit einer Fokusbranche aus Folie 5?
3. Konsumentenstudie: als USP-Idee genannt, im Kommentar mit „hoher Aufwand“ bewertet.
4. Monitoring und interne Revision: offene Frage aus der Analyse (mögliche Kollision mit Prozessen der internen Revision).
5. Vertiefung: Ideen aus den Kommentaren (Analyse messbarer Verbesserungen wie Materialreduktion, Recyclingfähigkeit, Rezyklate; Analyse von Problemen in der Wertschöpfungskette anhand unzulässiger Green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Quellen stammen aus der Analyse (Word-Dokument) und sind verlinkt. Die WPK-Meldung ist über DATEV verlinkt. Normzitate aus der Richtlinie (EU) 2024/825 vor externer Verwendung am Original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eur-lex.europa.eu/eli/dir/2024/825/oj?locale=de" TargetMode="External"/><Relationship Id="rId2" Type="http://schemas.openxmlformats.org/officeDocument/2006/relationships/hyperlink" Target="https://www.datev.de/web/de/berufsgruppenuebergreifend/nachrichten/ndsr/wp/Neue-Vorgaben-Umweltaussagen-EmpCo-Richtlinie-WPK" TargetMode="External"/><Relationship Id="rId3" Type="http://schemas.openxmlformats.org/officeDocument/2006/relationships/hyperlink" Target="https://www.idw.de/presse/pressemeldung/uwg-novelle-fuehrt-zu-rechtsunsicherheit-bei-nachhaltigkeitsaussagen.html" TargetMode="External"/><Relationship Id="rId4" Type="http://schemas.openxmlformats.org/officeDocument/2006/relationships/hyperlink" Target="https://www.idw.de/news/idw-veroeffentlicht-mustervermerke-zur-pruefung-von-umsetzungsplaenen-fuer-kuenftige-umweltleistungen.html" TargetMode="External"/><Relationship Id="rId5" Type="http://schemas.openxmlformats.org/officeDocument/2006/relationships/hyperlink" Target="https://www.haufe.de/sustainability/strategie/studie-jede-zweite-firma-kommuniziert-regelwidrig_575772_697476.html" TargetMode="External"/><Relationship Id="rId6" Type="http://schemas.openxmlformats.org/officeDocument/2006/relationships/hyperlink" Target="https://www.haufe.de/sustainability/strategie/green-claims-vom-rechtscheck-zum-dauerhaften-pruefprozess_575772_698090.html" TargetMode="External"/><Relationship Id="rId7" Type="http://schemas.openxmlformats.org/officeDocument/2006/relationships/hyperlink" Target="https://www.mckinsey.com/industries/consumer-packaged-goods/our-insights/consumers-care-about-sustainability-and-back-it-up-with-their-wallets" TargetMode="External"/><Relationship Id="rId8" Type="http://schemas.openxmlformats.org/officeDocument/2006/relationships/hyperlink" Target="https://www.esgtoday.com/consumer-concern-about-sustainability-increases-for-first-time-in-3-years-bain-survey/" TargetMode="External"/><Relationship Id="rId9" Type="http://schemas.openxmlformats.org/officeDocument/2006/relationships/hyperlink" Target="https://kpmg.com/de/de/themen/nachhaltigkeit-esg/empco-2026-neue-regeln-fuer-umweltangaben.html" TargetMode="External"/><Relationship Id="rId10" Type="http://schemas.openxmlformats.org/officeDocument/2006/relationships/hyperlink" Target="https://www.pwc.de/de/nachhaltigkeit/green-claims-stresstest-fuer-die-governance.html" TargetMode="External"/><Relationship Id="rId11" Type="http://schemas.openxmlformats.org/officeDocument/2006/relationships/hyperlink" Target="https://blogs.pwc.de/de/sustainability/article/253141/umweltbezogene-angaben-und-nachhaltigkeitskennzeichnungen-was-unternehmen-im-jahr-2026-wissen-muessen/" TargetMode="External"/><Relationship Id="rId12" Type="http://schemas.openxmlformats.org/officeDocument/2006/relationships/hyperlink" Target="https://www.ey.com/de_at/services/sustainability/greenwashing-vermeiden" TargetMode="External"/><Relationship Id="rId13" Type="http://schemas.openxmlformats.org/officeDocument/2006/relationships/hyperlink" Target="https://www.deloitte.com/at/de/services/consulting/services/eu-greenwashing-directive.html" TargetMode="External"/><Relationship Id="rId14" Type="http://schemas.openxmlformats.org/officeDocument/2006/relationships/hyperlink" Target="https://www.deloitte.com/us/en/insights/topics/sustainability/eu-2025-sustainability-regulation-outlook.html" TargetMode="External"/><Relationship Id="rId15" Type="http://schemas.openxmlformats.org/officeDocument/2006/relationships/hyperlink" Target="https://www.grantthornton.at/services/advisory/sustainability-services/empco-green-claims-compliance/" TargetMode="External"/><Relationship Id="rId16" Type="http://schemas.openxmlformats.org/officeDocument/2006/relationships/hyperlink" Target="https://www.roedl.com/insights/empco-neue-regelungen-fuer-umweltaussagen/" TargetMode="External"/><Relationship Id="rId17" Type="http://schemas.openxmlformats.org/officeDocument/2006/relationships/hyperlink" Target="https://www.roedl.com/insights/greenwashing-check-energieversorger/" TargetMode="External"/><Relationship Id="rId18" Type="http://schemas.openxmlformats.org/officeDocument/2006/relationships/hyperlink" Target="https://global.roedl.com/wp-content/uploads/2026/07/dekarbonisierung-nachhaltigkeit-greenwashing-flyer.pdf" TargetMode="External"/><Relationship Id="rId19" Type="http://schemas.openxmlformats.org/officeDocument/2006/relationships/hyperlink" Target="https://www.ots.at/presseaussendung/OTS_20260928_OTS0040/neue-eu-regeln-gegen-greenwashing-herausforderungen-und-chancen-fuer-die-verpackungsindustrie" TargetMode="External"/><Relationship Id="rId20" Type="http://schemas.openxmlformats.org/officeDocument/2006/relationships/hyperlink" Target="https://consulting.tuv.com/leistungen/green-claims-quick-check" TargetMode="External"/><Relationship Id="rId21" Type="http://schemas.openxmlformats.org/officeDocument/2006/relationships/slideLayout" Target="../slideLayouts/slideLayout1.xml"/><Relationship Id="rId2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Text 0"/>
          <p:cNvSpPr txBox="1"/>
          <p:nvPr/>
        </p:nvSpPr>
        <p:spPr>
          <a:xfrm>
            <a:off x="548640" y="1691640"/>
            <a:ext cx="7772400" cy="320040"/>
          </a:xfrm>
          <a:prstGeom prst="rect">
            <a:avLst/>
          </a:prstGeom>
          <a:noFill/>
          <a:ln/>
        </p:spPr>
        <p:txBody>
          <a:bodyPr wrap="square" lIns="0" tIns="0" rIns="0" bIns="0" rtlCol="0" anchor="ctr"/>
          <a:lstStyle/>
          <a:p>
            <a:pPr indent="0" marL="0">
              <a:buNone/>
            </a:pPr>
            <a:r>
              <a:rPr lang="en-US" sz="1400" b="1" spc="300" kern="0" dirty="0">
                <a:solidFill>
                  <a:srgbClr val="6CCBB8"/>
                </a:solidFill>
                <a:latin typeface="Calibri" pitchFamily="34" charset="0"/>
                <a:ea typeface="Calibri" pitchFamily="34" charset="-122"/>
                <a:cs typeface="Calibri" pitchFamily="34" charset="-120"/>
              </a:rPr>
              <a:t>DEBRIEFING · EMPCO UND UWG</a:t>
            </a:r>
            <a:endParaRPr lang="en-US" sz="1400" dirty="0"/>
          </a:p>
        </p:txBody>
      </p:sp>
      <p:sp>
        <p:nvSpPr>
          <p:cNvPr id="3" name="Text 1"/>
          <p:cNvSpPr txBox="1"/>
          <p:nvPr/>
        </p:nvSpPr>
        <p:spPr>
          <a:xfrm>
            <a:off x="548640" y="2103120"/>
            <a:ext cx="758952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Chancen EmpCo und Marktanalyse</a:t>
            </a:r>
            <a:endParaRPr lang="en-US" sz="4400" dirty="0"/>
          </a:p>
        </p:txBody>
      </p:sp>
      <p:sp>
        <p:nvSpPr>
          <p:cNvPr id="4" name="Text 2"/>
          <p:cNvSpPr txBox="1"/>
          <p:nvPr/>
        </p:nvSpPr>
        <p:spPr>
          <a:xfrm>
            <a:off x="548640" y="3566160"/>
            <a:ext cx="6949440" cy="914400"/>
          </a:xfrm>
          <a:prstGeom prst="rect">
            <a:avLst/>
          </a:prstGeom>
          <a:noFill/>
          <a:ln/>
        </p:spPr>
        <p:txBody>
          <a:bodyPr wrap="square" lIns="0" tIns="0" rIns="0" bIns="0" rtlCol="0" anchor="t"/>
          <a:lstStyle/>
          <a:p>
            <a:pPr indent="0" marL="0">
              <a:buNone/>
            </a:pPr>
            <a:r>
              <a:rPr lang="en-US" sz="1800" dirty="0">
                <a:solidFill>
                  <a:srgbClr val="C9D6E3"/>
                </a:solidFill>
                <a:latin typeface="Calibri" pitchFamily="34" charset="0"/>
                <a:ea typeface="Calibri" pitchFamily="34" charset="-122"/>
                <a:cs typeface="Calibri" pitchFamily="34" charset="-120"/>
              </a:rPr>
              <a:t>Betroffene Branchen, Assurance-Grad, Einbindung ins Managementsystem, Sicht anderer Häuser und die USP-Frage</a:t>
            </a:r>
            <a:endParaRPr lang="en-US" sz="1800" dirty="0"/>
          </a:p>
        </p:txBody>
      </p:sp>
      <p:sp>
        <p:nvSpPr>
          <p:cNvPr id="5" name="Text 3"/>
          <p:cNvSpPr txBox="1"/>
          <p:nvPr/>
        </p:nvSpPr>
        <p:spPr>
          <a:xfrm>
            <a:off x="548640" y="5806440"/>
            <a:ext cx="4572000" cy="32004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Stand: 29.09.2026</a:t>
            </a:r>
            <a:endParaRPr lang="en-US" sz="1400" dirty="0"/>
          </a:p>
        </p:txBody>
      </p:sp>
      <p:sp>
        <p:nvSpPr>
          <p:cNvPr id="6" name="Shape 4"/>
          <p:cNvSpPr/>
          <p:nvPr/>
        </p:nvSpPr>
        <p:spPr>
          <a:xfrm>
            <a:off x="8549640" y="1417320"/>
            <a:ext cx="3108960" cy="3108960"/>
          </a:xfrm>
          <a:prstGeom prst="ellipse">
            <a:avLst/>
          </a:prstGeom>
          <a:solidFill>
            <a:srgbClr val="1B2E47"/>
          </a:solidFill>
          <a:ln w="12700">
            <a:solidFill>
              <a:srgbClr val="3C5570"/>
            </a:solidFill>
            <a:prstDash val="solid"/>
          </a:ln>
        </p:spPr>
      </p:sp>
      <p:pic>
        <p:nvPicPr>
          <p:cNvPr id="7" name="Image 0" descr="preencoded.png">    </p:cNvPr>
          <p:cNvPicPr>
            <a:picLocks noChangeAspect="1"/>
          </p:cNvPicPr>
          <p:nvPr/>
        </p:nvPicPr>
        <p:blipFill>
          <a:blip r:embed="rId1"/>
          <a:stretch>
            <a:fillRect/>
          </a:stretch>
        </p:blipFill>
        <p:spPr>
          <a:xfrm>
            <a:off x="9464040" y="2331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KERNERGEBNISSE</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Die Ergebnisse auf einen Blick</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siehe Folie 14; Zahl rechts: Haufe, Studie von Wortliga und media4nature (08/2026)</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703320" cy="2148840"/>
          </a:xfrm>
          <a:prstGeom prst="roundRect">
            <a:avLst>
              <a:gd name="adj" fmla="val 4255"/>
            </a:avLst>
          </a:prstGeom>
          <a:solidFill>
            <a:srgbClr val="F3F5F7"/>
          </a:solidFill>
          <a:ln w="9525">
            <a:solidFill>
              <a:srgbClr val="F3F5F7"/>
            </a:solidFill>
            <a:prstDash val="solid"/>
          </a:ln>
        </p:spPr>
      </p:sp>
      <p:sp>
        <p:nvSpPr>
          <p:cNvPr id="7" name="Shape 5"/>
          <p:cNvSpPr/>
          <p:nvPr/>
        </p:nvSpPr>
        <p:spPr>
          <a:xfrm>
            <a:off x="777240" y="1828800"/>
            <a:ext cx="530352" cy="530352"/>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915132" y="1966692"/>
            <a:ext cx="254569" cy="254569"/>
          </a:xfrm>
          <a:prstGeom prst="rect">
            <a:avLst/>
          </a:prstGeom>
        </p:spPr>
      </p:pic>
      <p:sp>
        <p:nvSpPr>
          <p:cNvPr id="9" name="Text 6"/>
          <p:cNvSpPr txBox="1"/>
          <p:nvPr/>
        </p:nvSpPr>
        <p:spPr>
          <a:xfrm>
            <a:off x="1463040" y="1801368"/>
            <a:ext cx="2606040" cy="585216"/>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Breite Betroffenheit</a:t>
            </a:r>
            <a:endParaRPr lang="en-US" sz="1600" dirty="0"/>
          </a:p>
        </p:txBody>
      </p:sp>
      <p:sp>
        <p:nvSpPr>
          <p:cNvPr id="10" name="Text 7"/>
          <p:cNvSpPr txBox="1"/>
          <p:nvPr/>
        </p:nvSpPr>
        <p:spPr>
          <a:xfrm>
            <a:off x="777240" y="2514600"/>
            <a:ext cx="3246120" cy="109728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Vor allem Branchen mit vielen grünen Werbeversprechen oder Aussagen zu Reparatur, Haltbarkeit und Gewährleistung.</a:t>
            </a:r>
            <a:endParaRPr lang="en-US" sz="1300" dirty="0"/>
          </a:p>
        </p:txBody>
      </p:sp>
      <p:sp>
        <p:nvSpPr>
          <p:cNvPr id="11" name="Shape 8"/>
          <p:cNvSpPr/>
          <p:nvPr/>
        </p:nvSpPr>
        <p:spPr>
          <a:xfrm>
            <a:off x="4434840" y="1600200"/>
            <a:ext cx="3703320" cy="2148840"/>
          </a:xfrm>
          <a:prstGeom prst="roundRect">
            <a:avLst>
              <a:gd name="adj" fmla="val 4255"/>
            </a:avLst>
          </a:prstGeom>
          <a:solidFill>
            <a:srgbClr val="F3F5F7"/>
          </a:solidFill>
          <a:ln w="9525">
            <a:solidFill>
              <a:srgbClr val="F3F5F7"/>
            </a:solidFill>
            <a:prstDash val="solid"/>
          </a:ln>
        </p:spPr>
      </p:sp>
      <p:sp>
        <p:nvSpPr>
          <p:cNvPr id="12" name="Shape 9"/>
          <p:cNvSpPr/>
          <p:nvPr/>
        </p:nvSpPr>
        <p:spPr>
          <a:xfrm>
            <a:off x="4663440" y="1828800"/>
            <a:ext cx="530352" cy="530352"/>
          </a:xfrm>
          <a:prstGeom prst="ellipse">
            <a:avLst/>
          </a:prstGeom>
          <a:solidFill>
            <a:srgbClr val="1F6F63"/>
          </a:solidFill>
          <a:ln w="6350">
            <a:solidFill>
              <a:srgbClr val="1F6F63"/>
            </a:solidFill>
            <a:prstDash val="solid"/>
          </a:ln>
        </p:spPr>
      </p:sp>
      <p:pic>
        <p:nvPicPr>
          <p:cNvPr id="13" name="Image 1" descr="preencoded.png">    </p:cNvPr>
          <p:cNvPicPr>
            <a:picLocks noChangeAspect="1"/>
          </p:cNvPicPr>
          <p:nvPr/>
        </p:nvPicPr>
        <p:blipFill>
          <a:blip r:embed="rId2"/>
          <a:stretch>
            <a:fillRect/>
          </a:stretch>
        </p:blipFill>
        <p:spPr>
          <a:xfrm>
            <a:off x="4801332" y="1966692"/>
            <a:ext cx="254569" cy="254569"/>
          </a:xfrm>
          <a:prstGeom prst="rect">
            <a:avLst/>
          </a:prstGeom>
        </p:spPr>
      </p:pic>
      <p:sp>
        <p:nvSpPr>
          <p:cNvPr id="14" name="Text 10"/>
          <p:cNvSpPr txBox="1"/>
          <p:nvPr/>
        </p:nvSpPr>
        <p:spPr>
          <a:xfrm>
            <a:off x="5349240" y="1801368"/>
            <a:ext cx="2606040" cy="585216"/>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Nachweispflicht statt Prüfpflicht</a:t>
            </a:r>
            <a:endParaRPr lang="en-US" sz="1600" dirty="0"/>
          </a:p>
        </p:txBody>
      </p:sp>
      <p:sp>
        <p:nvSpPr>
          <p:cNvPr id="15" name="Text 11"/>
          <p:cNvSpPr txBox="1"/>
          <p:nvPr/>
        </p:nvSpPr>
        <p:spPr>
          <a:xfrm>
            <a:off x="4663440" y="2514600"/>
            <a:ext cx="3246120" cy="109728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Belege müssen jederzeit vorliegen. Eine Prüfpflicht gibt es nur für Siegel und für Umsetzungspläne bei Zukunftsaussagen.</a:t>
            </a:r>
            <a:endParaRPr lang="en-US" sz="1300" dirty="0"/>
          </a:p>
        </p:txBody>
      </p:sp>
      <p:sp>
        <p:nvSpPr>
          <p:cNvPr id="16" name="Shape 12"/>
          <p:cNvSpPr/>
          <p:nvPr/>
        </p:nvSpPr>
        <p:spPr>
          <a:xfrm>
            <a:off x="548640" y="3931920"/>
            <a:ext cx="3703320" cy="2148840"/>
          </a:xfrm>
          <a:prstGeom prst="roundRect">
            <a:avLst>
              <a:gd name="adj" fmla="val 4255"/>
            </a:avLst>
          </a:prstGeom>
          <a:solidFill>
            <a:srgbClr val="F3F5F7"/>
          </a:solidFill>
          <a:ln w="9525">
            <a:solidFill>
              <a:srgbClr val="F3F5F7"/>
            </a:solidFill>
            <a:prstDash val="solid"/>
          </a:ln>
        </p:spPr>
      </p:sp>
      <p:sp>
        <p:nvSpPr>
          <p:cNvPr id="17" name="Shape 13"/>
          <p:cNvSpPr/>
          <p:nvPr/>
        </p:nvSpPr>
        <p:spPr>
          <a:xfrm>
            <a:off x="777240" y="4160520"/>
            <a:ext cx="530352" cy="530352"/>
          </a:xfrm>
          <a:prstGeom prst="ellipse">
            <a:avLst/>
          </a:prstGeom>
          <a:solidFill>
            <a:srgbClr val="1F6F63"/>
          </a:solidFill>
          <a:ln w="6350">
            <a:solidFill>
              <a:srgbClr val="1F6F63"/>
            </a:solidFill>
            <a:prstDash val="solid"/>
          </a:ln>
        </p:spPr>
      </p:sp>
      <p:pic>
        <p:nvPicPr>
          <p:cNvPr id="18" name="Image 2" descr="preencoded.png">    </p:cNvPr>
          <p:cNvPicPr>
            <a:picLocks noChangeAspect="1"/>
          </p:cNvPicPr>
          <p:nvPr/>
        </p:nvPicPr>
        <p:blipFill>
          <a:blip r:embed="rId3"/>
          <a:stretch>
            <a:fillRect/>
          </a:stretch>
        </p:blipFill>
        <p:spPr>
          <a:xfrm>
            <a:off x="915132" y="4298412"/>
            <a:ext cx="254569" cy="254569"/>
          </a:xfrm>
          <a:prstGeom prst="rect">
            <a:avLst/>
          </a:prstGeom>
        </p:spPr>
      </p:pic>
      <p:sp>
        <p:nvSpPr>
          <p:cNvPr id="19" name="Text 14"/>
          <p:cNvSpPr txBox="1"/>
          <p:nvPr/>
        </p:nvSpPr>
        <p:spPr>
          <a:xfrm>
            <a:off x="1463040" y="4133088"/>
            <a:ext cx="2606040" cy="585216"/>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Integration mit Hürden</a:t>
            </a:r>
            <a:endParaRPr lang="en-US" sz="1600" dirty="0"/>
          </a:p>
        </p:txBody>
      </p:sp>
      <p:sp>
        <p:nvSpPr>
          <p:cNvPr id="20" name="Text 15"/>
          <p:cNvSpPr txBox="1"/>
          <p:nvPr/>
        </p:nvSpPr>
        <p:spPr>
          <a:xfrm>
            <a:off x="777240" y="4846320"/>
            <a:ext cx="3246120" cy="109728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Viele Abteilungen, IT-Änderungen und externe Belege. Entscheidend ist der Reifegrad der bestehenden Systeme.</a:t>
            </a:r>
            <a:endParaRPr lang="en-US" sz="1300" dirty="0"/>
          </a:p>
        </p:txBody>
      </p:sp>
      <p:sp>
        <p:nvSpPr>
          <p:cNvPr id="21" name="Shape 16"/>
          <p:cNvSpPr/>
          <p:nvPr/>
        </p:nvSpPr>
        <p:spPr>
          <a:xfrm>
            <a:off x="4434840" y="3931920"/>
            <a:ext cx="3703320" cy="2148840"/>
          </a:xfrm>
          <a:prstGeom prst="roundRect">
            <a:avLst>
              <a:gd name="adj" fmla="val 4255"/>
            </a:avLst>
          </a:prstGeom>
          <a:solidFill>
            <a:srgbClr val="F3F5F7"/>
          </a:solidFill>
          <a:ln w="9525">
            <a:solidFill>
              <a:srgbClr val="F3F5F7"/>
            </a:solidFill>
            <a:prstDash val="solid"/>
          </a:ln>
        </p:spPr>
      </p:sp>
      <p:sp>
        <p:nvSpPr>
          <p:cNvPr id="22" name="Shape 17"/>
          <p:cNvSpPr/>
          <p:nvPr/>
        </p:nvSpPr>
        <p:spPr>
          <a:xfrm>
            <a:off x="4663440" y="4160520"/>
            <a:ext cx="530352" cy="530352"/>
          </a:xfrm>
          <a:prstGeom prst="ellipse">
            <a:avLst/>
          </a:prstGeom>
          <a:solidFill>
            <a:srgbClr val="1F6F63"/>
          </a:solidFill>
          <a:ln w="6350">
            <a:solidFill>
              <a:srgbClr val="1F6F63"/>
            </a:solidFill>
            <a:prstDash val="solid"/>
          </a:ln>
        </p:spPr>
      </p:sp>
      <p:pic>
        <p:nvPicPr>
          <p:cNvPr id="23" name="Image 3" descr="preencoded.png">    </p:cNvPr>
          <p:cNvPicPr>
            <a:picLocks noChangeAspect="1"/>
          </p:cNvPicPr>
          <p:nvPr/>
        </p:nvPicPr>
        <p:blipFill>
          <a:blip r:embed="rId4"/>
          <a:stretch>
            <a:fillRect/>
          </a:stretch>
        </p:blipFill>
        <p:spPr>
          <a:xfrm>
            <a:off x="4801332" y="4298412"/>
            <a:ext cx="254569" cy="254569"/>
          </a:xfrm>
          <a:prstGeom prst="rect">
            <a:avLst/>
          </a:prstGeom>
        </p:spPr>
      </p:pic>
      <p:sp>
        <p:nvSpPr>
          <p:cNvPr id="24" name="Text 18"/>
          <p:cNvSpPr txBox="1"/>
          <p:nvPr/>
        </p:nvSpPr>
        <p:spPr>
          <a:xfrm>
            <a:off x="5349240" y="4133088"/>
            <a:ext cx="2606040" cy="585216"/>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Kein struktureller Vorsprung</a:t>
            </a:r>
            <a:endParaRPr lang="en-US" sz="1600" dirty="0"/>
          </a:p>
        </p:txBody>
      </p:sp>
      <p:sp>
        <p:nvSpPr>
          <p:cNvPr id="25" name="Text 19"/>
          <p:cNvSpPr txBox="1"/>
          <p:nvPr/>
        </p:nvSpPr>
        <p:spPr>
          <a:xfrm>
            <a:off x="4663440" y="4846320"/>
            <a:ext cx="3246120" cy="109728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Das Marktangebot ist breit und austauschbar. Es zählen Zeitvorsprung und ein Kernangebot vom Reifegrad-Check bis zum Monitoring.</a:t>
            </a:r>
            <a:endParaRPr lang="en-US" sz="1300" dirty="0"/>
          </a:p>
        </p:txBody>
      </p:sp>
      <p:sp>
        <p:nvSpPr>
          <p:cNvPr id="26" name="Shape 20"/>
          <p:cNvSpPr/>
          <p:nvPr/>
        </p:nvSpPr>
        <p:spPr>
          <a:xfrm>
            <a:off x="8321040" y="1600200"/>
            <a:ext cx="3319272" cy="4480560"/>
          </a:xfrm>
          <a:prstGeom prst="roundRect">
            <a:avLst>
              <a:gd name="adj" fmla="val 2755"/>
            </a:avLst>
          </a:prstGeom>
          <a:solidFill>
            <a:srgbClr val="13233A"/>
          </a:solidFill>
          <a:ln w="9525">
            <a:solidFill>
              <a:srgbClr val="13233A"/>
            </a:solidFill>
            <a:prstDash val="solid"/>
          </a:ln>
        </p:spPr>
      </p:sp>
      <p:sp>
        <p:nvSpPr>
          <p:cNvPr id="27" name="Text 21"/>
          <p:cNvSpPr txBox="1"/>
          <p:nvPr/>
        </p:nvSpPr>
        <p:spPr>
          <a:xfrm>
            <a:off x="8595360" y="1828800"/>
            <a:ext cx="2834640" cy="274320"/>
          </a:xfrm>
          <a:prstGeom prst="rect">
            <a:avLst/>
          </a:prstGeom>
          <a:noFill/>
          <a:ln/>
        </p:spPr>
        <p:txBody>
          <a:bodyPr wrap="square" lIns="0" tIns="0" rIns="0" bIns="0" rtlCol="0" anchor="ctr"/>
          <a:lstStyle/>
          <a:p>
            <a:pPr indent="0" marL="0">
              <a:buNone/>
            </a:pPr>
            <a:r>
              <a:rPr lang="en-US" sz="1200" b="1" spc="200" kern="0" dirty="0">
                <a:solidFill>
                  <a:srgbClr val="F2A65A"/>
                </a:solidFill>
                <a:latin typeface="Calibri" pitchFamily="34" charset="0"/>
                <a:ea typeface="Calibri" pitchFamily="34" charset="-122"/>
                <a:cs typeface="Calibri" pitchFamily="34" charset="-120"/>
              </a:rPr>
              <a:t>REALITY CHECK</a:t>
            </a:r>
            <a:endParaRPr lang="en-US" sz="1200" dirty="0"/>
          </a:p>
        </p:txBody>
      </p:sp>
      <p:sp>
        <p:nvSpPr>
          <p:cNvPr id="28" name="Text 22"/>
          <p:cNvSpPr txBox="1"/>
          <p:nvPr/>
        </p:nvSpPr>
        <p:spPr>
          <a:xfrm>
            <a:off x="8595360" y="2194560"/>
            <a:ext cx="283464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51 %</a:t>
            </a:r>
            <a:endParaRPr lang="en-US" sz="6000" dirty="0"/>
          </a:p>
        </p:txBody>
      </p:sp>
      <p:sp>
        <p:nvSpPr>
          <p:cNvPr id="29" name="Text 23"/>
          <p:cNvSpPr txBox="1"/>
          <p:nvPr/>
        </p:nvSpPr>
        <p:spPr>
          <a:xfrm>
            <a:off x="8595360" y="3337560"/>
            <a:ext cx="2788920" cy="146304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der 345 Firmen, die aktiv mit Nachhaltigkeitsaussagen werben, weisen mindestens einen Verstoß auf.</a:t>
            </a:r>
            <a:endParaRPr lang="en-US" sz="1500" dirty="0"/>
          </a:p>
        </p:txBody>
      </p:sp>
      <p:sp>
        <p:nvSpPr>
          <p:cNvPr id="30" name="Text 24"/>
          <p:cNvSpPr txBox="1"/>
          <p:nvPr/>
        </p:nvSpPr>
        <p:spPr>
          <a:xfrm>
            <a:off x="8595360" y="4892040"/>
            <a:ext cx="27889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Nur 48 % kommunizieren regelkonform.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LEITFRAGEN</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Fünf Fragen haben die Analyse geleitet</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Grundlage: Desk-Recherche, Stand 28. und 29.09.2026</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645920"/>
            <a:ext cx="512064" cy="512064"/>
          </a:xfrm>
          <a:prstGeom prst="ellipse">
            <a:avLst/>
          </a:prstGeom>
          <a:solidFill>
            <a:srgbClr val="1F6F63"/>
          </a:solidFill>
          <a:ln w="6350">
            <a:solidFill>
              <a:srgbClr val="1F6F63"/>
            </a:solidFill>
            <a:prstDash val="solid"/>
          </a:ln>
        </p:spPr>
      </p:sp>
      <p:sp>
        <p:nvSpPr>
          <p:cNvPr id="7" name="Text 5"/>
          <p:cNvSpPr txBox="1"/>
          <p:nvPr/>
        </p:nvSpPr>
        <p:spPr>
          <a:xfrm>
            <a:off x="548640" y="16459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280160" y="1645920"/>
            <a:ext cx="5577840" cy="512064"/>
          </a:xfrm>
          <a:prstGeom prst="rect">
            <a:avLst/>
          </a:prstGeom>
          <a:noFill/>
          <a:ln/>
        </p:spPr>
        <p:txBody>
          <a:bodyPr wrap="square" lIns="0" tIns="0" rIns="0" bIns="0" rtlCol="0" anchor="ctr"/>
          <a:lstStyle/>
          <a:p>
            <a:pPr indent="0" marL="0">
              <a:buNone/>
            </a:pPr>
            <a:r>
              <a:rPr lang="en-US" sz="1800" dirty="0">
                <a:solidFill>
                  <a:srgbClr val="13233A"/>
                </a:solidFill>
                <a:latin typeface="Calibri" pitchFamily="34" charset="0"/>
                <a:ea typeface="Calibri" pitchFamily="34" charset="-122"/>
                <a:cs typeface="Calibri" pitchFamily="34" charset="-120"/>
              </a:rPr>
              <a:t>Welche Branchen sind besonders betroffen?</a:t>
            </a:r>
            <a:endParaRPr lang="en-US" sz="1800" dirty="0"/>
          </a:p>
        </p:txBody>
      </p:sp>
      <p:sp>
        <p:nvSpPr>
          <p:cNvPr id="9" name="Text 7"/>
          <p:cNvSpPr txBox="1"/>
          <p:nvPr/>
        </p:nvSpPr>
        <p:spPr>
          <a:xfrm>
            <a:off x="6949440" y="164592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5</a:t>
            </a:r>
            <a:endParaRPr lang="en-US" sz="1200" dirty="0"/>
          </a:p>
        </p:txBody>
      </p:sp>
      <p:sp>
        <p:nvSpPr>
          <p:cNvPr id="10" name="Shape 8"/>
          <p:cNvSpPr/>
          <p:nvPr/>
        </p:nvSpPr>
        <p:spPr>
          <a:xfrm>
            <a:off x="548640" y="2377440"/>
            <a:ext cx="512064" cy="512064"/>
          </a:xfrm>
          <a:prstGeom prst="ellipse">
            <a:avLst/>
          </a:prstGeom>
          <a:solidFill>
            <a:srgbClr val="1F6F63"/>
          </a:solidFill>
          <a:ln w="6350">
            <a:solidFill>
              <a:srgbClr val="1F6F63"/>
            </a:solidFill>
            <a:prstDash val="solid"/>
          </a:ln>
        </p:spPr>
      </p:sp>
      <p:sp>
        <p:nvSpPr>
          <p:cNvPr id="11" name="Text 9"/>
          <p:cNvSpPr txBox="1"/>
          <p:nvPr/>
        </p:nvSpPr>
        <p:spPr>
          <a:xfrm>
            <a:off x="548640" y="2377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1280160" y="2377440"/>
            <a:ext cx="5577840" cy="512064"/>
          </a:xfrm>
          <a:prstGeom prst="rect">
            <a:avLst/>
          </a:prstGeom>
          <a:noFill/>
          <a:ln/>
        </p:spPr>
        <p:txBody>
          <a:bodyPr wrap="square" lIns="0" tIns="0" rIns="0" bIns="0" rtlCol="0" anchor="ctr"/>
          <a:lstStyle/>
          <a:p>
            <a:pPr indent="0" marL="0">
              <a:buNone/>
            </a:pPr>
            <a:r>
              <a:rPr lang="en-US" sz="1800" dirty="0">
                <a:solidFill>
                  <a:srgbClr val="13233A"/>
                </a:solidFill>
                <a:latin typeface="Calibri" pitchFamily="34" charset="0"/>
                <a:ea typeface="Calibri" pitchFamily="34" charset="-122"/>
                <a:cs typeface="Calibri" pitchFamily="34" charset="-120"/>
              </a:rPr>
              <a:t>Welcher Assurance-Grad steht hinter EmpCo?</a:t>
            </a:r>
            <a:endParaRPr lang="en-US" sz="1800" dirty="0"/>
          </a:p>
        </p:txBody>
      </p:sp>
      <p:sp>
        <p:nvSpPr>
          <p:cNvPr id="13" name="Text 11"/>
          <p:cNvSpPr txBox="1"/>
          <p:nvPr/>
        </p:nvSpPr>
        <p:spPr>
          <a:xfrm>
            <a:off x="6949440" y="237744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6</a:t>
            </a:r>
            <a:endParaRPr lang="en-US" sz="1200" dirty="0"/>
          </a:p>
        </p:txBody>
      </p:sp>
      <p:sp>
        <p:nvSpPr>
          <p:cNvPr id="14" name="Shape 12"/>
          <p:cNvSpPr/>
          <p:nvPr/>
        </p:nvSpPr>
        <p:spPr>
          <a:xfrm>
            <a:off x="548640" y="3108960"/>
            <a:ext cx="512064" cy="512064"/>
          </a:xfrm>
          <a:prstGeom prst="ellipse">
            <a:avLst/>
          </a:prstGeom>
          <a:solidFill>
            <a:srgbClr val="1F6F63"/>
          </a:solidFill>
          <a:ln w="6350">
            <a:solidFill>
              <a:srgbClr val="1F6F63"/>
            </a:solidFill>
            <a:prstDash val="solid"/>
          </a:ln>
        </p:spPr>
      </p:sp>
      <p:sp>
        <p:nvSpPr>
          <p:cNvPr id="15" name="Text 13"/>
          <p:cNvSpPr txBox="1"/>
          <p:nvPr/>
        </p:nvSpPr>
        <p:spPr>
          <a:xfrm>
            <a:off x="548640" y="31089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280160" y="3108960"/>
            <a:ext cx="5577840" cy="512064"/>
          </a:xfrm>
          <a:prstGeom prst="rect">
            <a:avLst/>
          </a:prstGeom>
          <a:noFill/>
          <a:ln/>
        </p:spPr>
        <p:txBody>
          <a:bodyPr wrap="square" lIns="0" tIns="0" rIns="0" bIns="0" rtlCol="0" anchor="ctr"/>
          <a:lstStyle/>
          <a:p>
            <a:pPr indent="0" marL="0">
              <a:buNone/>
            </a:pPr>
            <a:r>
              <a:rPr lang="en-US" sz="1800" dirty="0">
                <a:solidFill>
                  <a:srgbClr val="13233A"/>
                </a:solidFill>
                <a:latin typeface="Calibri" pitchFamily="34" charset="0"/>
                <a:ea typeface="Calibri" pitchFamily="34" charset="-122"/>
                <a:cs typeface="Calibri" pitchFamily="34" charset="-120"/>
              </a:rPr>
              <a:t>Wo hakt die Einbindung ins Managementsystem?</a:t>
            </a:r>
            <a:endParaRPr lang="en-US" sz="1800" dirty="0"/>
          </a:p>
        </p:txBody>
      </p:sp>
      <p:sp>
        <p:nvSpPr>
          <p:cNvPr id="17" name="Text 15"/>
          <p:cNvSpPr txBox="1"/>
          <p:nvPr/>
        </p:nvSpPr>
        <p:spPr>
          <a:xfrm>
            <a:off x="6949440" y="310896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7</a:t>
            </a:r>
            <a:endParaRPr lang="en-US" sz="1200" dirty="0"/>
          </a:p>
        </p:txBody>
      </p:sp>
      <p:sp>
        <p:nvSpPr>
          <p:cNvPr id="18" name="Shape 16"/>
          <p:cNvSpPr/>
          <p:nvPr/>
        </p:nvSpPr>
        <p:spPr>
          <a:xfrm>
            <a:off x="548640" y="3840480"/>
            <a:ext cx="512064" cy="512064"/>
          </a:xfrm>
          <a:prstGeom prst="ellipse">
            <a:avLst/>
          </a:prstGeom>
          <a:solidFill>
            <a:srgbClr val="1F6F63"/>
          </a:solidFill>
          <a:ln w="6350">
            <a:solidFill>
              <a:srgbClr val="1F6F63"/>
            </a:solidFill>
            <a:prstDash val="solid"/>
          </a:ln>
        </p:spPr>
      </p:sp>
      <p:sp>
        <p:nvSpPr>
          <p:cNvPr id="19" name="Text 17"/>
          <p:cNvSpPr txBox="1"/>
          <p:nvPr/>
        </p:nvSpPr>
        <p:spPr>
          <a:xfrm>
            <a:off x="548640" y="384048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1280160" y="3840480"/>
            <a:ext cx="5577840" cy="512064"/>
          </a:xfrm>
          <a:prstGeom prst="rect">
            <a:avLst/>
          </a:prstGeom>
          <a:noFill/>
          <a:ln/>
        </p:spPr>
        <p:txBody>
          <a:bodyPr wrap="square" lIns="0" tIns="0" rIns="0" bIns="0" rtlCol="0" anchor="ctr"/>
          <a:lstStyle/>
          <a:p>
            <a:pPr indent="0" marL="0">
              <a:buNone/>
            </a:pPr>
            <a:r>
              <a:rPr lang="en-US" sz="1800" dirty="0">
                <a:solidFill>
                  <a:srgbClr val="13233A"/>
                </a:solidFill>
                <a:latin typeface="Calibri" pitchFamily="34" charset="0"/>
                <a:ea typeface="Calibri" pitchFamily="34" charset="-122"/>
                <a:cs typeface="Calibri" pitchFamily="34" charset="-120"/>
              </a:rPr>
              <a:t>Sehen andere Beratungshäuser Chancen?</a:t>
            </a:r>
            <a:endParaRPr lang="en-US" sz="1800" dirty="0"/>
          </a:p>
        </p:txBody>
      </p:sp>
      <p:sp>
        <p:nvSpPr>
          <p:cNvPr id="21" name="Text 19"/>
          <p:cNvSpPr txBox="1"/>
          <p:nvPr/>
        </p:nvSpPr>
        <p:spPr>
          <a:xfrm>
            <a:off x="6949440" y="384048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8</a:t>
            </a:r>
            <a:endParaRPr lang="en-US" sz="1200" dirty="0"/>
          </a:p>
        </p:txBody>
      </p:sp>
      <p:sp>
        <p:nvSpPr>
          <p:cNvPr id="22" name="Shape 20"/>
          <p:cNvSpPr/>
          <p:nvPr/>
        </p:nvSpPr>
        <p:spPr>
          <a:xfrm>
            <a:off x="548640" y="4572000"/>
            <a:ext cx="512064" cy="512064"/>
          </a:xfrm>
          <a:prstGeom prst="ellipse">
            <a:avLst/>
          </a:prstGeom>
          <a:solidFill>
            <a:srgbClr val="1F6F63"/>
          </a:solidFill>
          <a:ln w="6350">
            <a:solidFill>
              <a:srgbClr val="1F6F63"/>
            </a:solidFill>
            <a:prstDash val="solid"/>
          </a:ln>
        </p:spPr>
      </p:sp>
      <p:sp>
        <p:nvSpPr>
          <p:cNvPr id="23" name="Text 21"/>
          <p:cNvSpPr txBox="1"/>
          <p:nvPr/>
        </p:nvSpPr>
        <p:spPr>
          <a:xfrm>
            <a:off x="548640" y="45720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280160" y="4572000"/>
            <a:ext cx="5577840" cy="512064"/>
          </a:xfrm>
          <a:prstGeom prst="rect">
            <a:avLst/>
          </a:prstGeom>
          <a:noFill/>
          <a:ln/>
        </p:spPr>
        <p:txBody>
          <a:bodyPr wrap="square" lIns="0" tIns="0" rIns="0" bIns="0" rtlCol="0" anchor="ctr"/>
          <a:lstStyle/>
          <a:p>
            <a:pPr indent="0" marL="0">
              <a:buNone/>
            </a:pPr>
            <a:r>
              <a:rPr lang="en-US" sz="1800" dirty="0">
                <a:solidFill>
                  <a:srgbClr val="13233A"/>
                </a:solidFill>
                <a:latin typeface="Calibri" pitchFamily="34" charset="0"/>
                <a:ea typeface="Calibri" pitchFamily="34" charset="-122"/>
                <a:cs typeface="Calibri" pitchFamily="34" charset="-120"/>
              </a:rPr>
              <a:t>Gibt es USPs, und was verkauft der Markt?</a:t>
            </a:r>
            <a:endParaRPr lang="en-US" sz="1800" dirty="0"/>
          </a:p>
        </p:txBody>
      </p:sp>
      <p:sp>
        <p:nvSpPr>
          <p:cNvPr id="25" name="Text 23"/>
          <p:cNvSpPr txBox="1"/>
          <p:nvPr/>
        </p:nvSpPr>
        <p:spPr>
          <a:xfrm>
            <a:off x="6949440" y="457200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10</a:t>
            </a:r>
            <a:endParaRPr lang="en-US" sz="1200" dirty="0"/>
          </a:p>
        </p:txBody>
      </p:sp>
      <p:sp>
        <p:nvSpPr>
          <p:cNvPr id="26" name="Shape 24"/>
          <p:cNvSpPr/>
          <p:nvPr/>
        </p:nvSpPr>
        <p:spPr>
          <a:xfrm>
            <a:off x="548640" y="5303520"/>
            <a:ext cx="512064" cy="512064"/>
          </a:xfrm>
          <a:prstGeom prst="ellipse">
            <a:avLst/>
          </a:prstGeom>
          <a:solidFill>
            <a:srgbClr val="B04A16"/>
          </a:solidFill>
          <a:ln w="6350">
            <a:solidFill>
              <a:srgbClr val="B04A16"/>
            </a:solidFill>
            <a:prstDash val="solid"/>
          </a:ln>
        </p:spPr>
      </p:sp>
      <p:pic>
        <p:nvPicPr>
          <p:cNvPr id="27" name="Image 0" descr="preencoded.png">    </p:cNvPr>
          <p:cNvPicPr>
            <a:picLocks noChangeAspect="1"/>
          </p:cNvPicPr>
          <p:nvPr/>
        </p:nvPicPr>
        <p:blipFill>
          <a:blip r:embed="rId1"/>
          <a:stretch>
            <a:fillRect/>
          </a:stretch>
        </p:blipFill>
        <p:spPr>
          <a:xfrm>
            <a:off x="685800" y="5440680"/>
            <a:ext cx="237744" cy="237744"/>
          </a:xfrm>
          <a:prstGeom prst="rect">
            <a:avLst/>
          </a:prstGeom>
        </p:spPr>
      </p:pic>
      <p:sp>
        <p:nvSpPr>
          <p:cNvPr id="28" name="Text 25"/>
          <p:cNvSpPr txBox="1"/>
          <p:nvPr/>
        </p:nvSpPr>
        <p:spPr>
          <a:xfrm>
            <a:off x="1280160" y="5303520"/>
            <a:ext cx="6583680" cy="512064"/>
          </a:xfrm>
          <a:prstGeom prst="rect">
            <a:avLst/>
          </a:prstGeom>
          <a:noFill/>
          <a:ln/>
        </p:spPr>
        <p:txBody>
          <a:bodyPr wrap="square" lIns="0" tIns="0" rIns="0" bIns="0" rtlCol="0" anchor="ctr"/>
          <a:lstStyle/>
          <a:p>
            <a:pPr indent="0" marL="0">
              <a:buNone/>
            </a:pPr>
            <a:r>
              <a:rPr lang="en-US" sz="1800" b="1" dirty="0">
                <a:solidFill>
                  <a:srgbClr val="13233A"/>
                </a:solidFill>
                <a:latin typeface="Calibri" pitchFamily="34" charset="0"/>
                <a:ea typeface="Calibri" pitchFamily="34" charset="-122"/>
                <a:cs typeface="Calibri" pitchFamily="34" charset="-120"/>
              </a:rPr>
              <a:t>Fazit und Diskussionspunkte</a:t>
            </a:r>
            <a:endParaRPr lang="en-US" sz="1800" dirty="0"/>
          </a:p>
        </p:txBody>
      </p:sp>
      <p:sp>
        <p:nvSpPr>
          <p:cNvPr id="29" name="Text 26"/>
          <p:cNvSpPr txBox="1"/>
          <p:nvPr/>
        </p:nvSpPr>
        <p:spPr>
          <a:xfrm>
            <a:off x="6949440" y="5303520"/>
            <a:ext cx="914400" cy="512064"/>
          </a:xfrm>
          <a:prstGeom prst="rect">
            <a:avLst/>
          </a:prstGeom>
          <a:noFill/>
          <a:ln/>
        </p:spPr>
        <p:txBody>
          <a:bodyPr wrap="square" lIns="0" tIns="0" rIns="0" bIns="0" rtlCol="0" anchor="ctr"/>
          <a:lstStyle/>
          <a:p>
            <a:pPr algn="r" indent="0" marL="0">
              <a:buNone/>
            </a:pPr>
            <a:r>
              <a:rPr lang="en-US" sz="1200" dirty="0">
                <a:solidFill>
                  <a:srgbClr val="4A5A6C"/>
                </a:solidFill>
                <a:latin typeface="Calibri" pitchFamily="34" charset="0"/>
                <a:ea typeface="Calibri" pitchFamily="34" charset="-122"/>
                <a:cs typeface="Calibri" pitchFamily="34" charset="-120"/>
              </a:rPr>
              <a:t>Folie 12</a:t>
            </a:r>
            <a:endParaRPr lang="en-US" sz="1200" dirty="0"/>
          </a:p>
        </p:txBody>
      </p:sp>
      <p:sp>
        <p:nvSpPr>
          <p:cNvPr id="30" name="Shape 27"/>
          <p:cNvSpPr/>
          <p:nvPr/>
        </p:nvSpPr>
        <p:spPr>
          <a:xfrm>
            <a:off x="8321040" y="1645920"/>
            <a:ext cx="3319272" cy="4169664"/>
          </a:xfrm>
          <a:prstGeom prst="roundRect">
            <a:avLst>
              <a:gd name="adj" fmla="val 2755"/>
            </a:avLst>
          </a:prstGeom>
          <a:solidFill>
            <a:srgbClr val="E4F1EE"/>
          </a:solidFill>
          <a:ln w="9525">
            <a:solidFill>
              <a:srgbClr val="E4F1EE"/>
            </a:solidFill>
            <a:prstDash val="solid"/>
          </a:ln>
        </p:spPr>
      </p:sp>
      <p:sp>
        <p:nvSpPr>
          <p:cNvPr id="31" name="Shape 28"/>
          <p:cNvSpPr/>
          <p:nvPr/>
        </p:nvSpPr>
        <p:spPr>
          <a:xfrm>
            <a:off x="8595360" y="1920240"/>
            <a:ext cx="530352" cy="530352"/>
          </a:xfrm>
          <a:prstGeom prst="ellipse">
            <a:avLst/>
          </a:prstGeom>
          <a:solidFill>
            <a:srgbClr val="1F6F63"/>
          </a:solidFill>
          <a:ln w="6350">
            <a:solidFill>
              <a:srgbClr val="1F6F63"/>
            </a:solidFill>
            <a:prstDash val="solid"/>
          </a:ln>
        </p:spPr>
      </p:sp>
      <p:pic>
        <p:nvPicPr>
          <p:cNvPr id="32" name="Image 1" descr="preencoded.png">    </p:cNvPr>
          <p:cNvPicPr>
            <a:picLocks noChangeAspect="1"/>
          </p:cNvPicPr>
          <p:nvPr/>
        </p:nvPicPr>
        <p:blipFill>
          <a:blip r:embed="rId2"/>
          <a:stretch>
            <a:fillRect/>
          </a:stretch>
        </p:blipFill>
        <p:spPr>
          <a:xfrm>
            <a:off x="8733252" y="2058132"/>
            <a:ext cx="254569" cy="254569"/>
          </a:xfrm>
          <a:prstGeom prst="rect">
            <a:avLst/>
          </a:prstGeom>
        </p:spPr>
      </p:pic>
      <p:sp>
        <p:nvSpPr>
          <p:cNvPr id="33" name="Text 29"/>
          <p:cNvSpPr txBox="1"/>
          <p:nvPr/>
        </p:nvSpPr>
        <p:spPr>
          <a:xfrm>
            <a:off x="8595360" y="2606040"/>
            <a:ext cx="2834640" cy="320040"/>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Ausgewertet</a:t>
            </a:r>
            <a:endParaRPr lang="en-US" sz="1600" dirty="0"/>
          </a:p>
        </p:txBody>
      </p:sp>
      <p:sp>
        <p:nvSpPr>
          <p:cNvPr id="34" name="Text 30"/>
          <p:cNvSpPr txBox="1"/>
          <p:nvPr/>
        </p:nvSpPr>
        <p:spPr>
          <a:xfrm>
            <a:off x="8595360" y="3017520"/>
            <a:ext cx="283464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A6C"/>
                </a:solidFill>
                <a:latin typeface="Calibri" pitchFamily="34" charset="0"/>
                <a:ea typeface="Calibri" pitchFamily="34" charset="-122"/>
                <a:cs typeface="Calibri" pitchFamily="34" charset="-120"/>
              </a:rPr>
              <a:t>Beratungshäuser: KPMG, PwC, EY, Deloitte, Grant Thornton, Rödl, Simon-Kucher, McKinsey, Bain</a:t>
            </a:r>
            <a:endParaRPr lang="en-US" sz="1300" dirty="0"/>
          </a:p>
          <a:p>
            <a:pPr marL="342900" indent="-342900">
              <a:spcAft>
                <a:spcPts val="600"/>
              </a:spcAft>
              <a:buSzPct val="100000"/>
              <a:buChar char="•"/>
            </a:pPr>
            <a:r>
              <a:rPr lang="en-US" sz="1300" dirty="0">
                <a:solidFill>
                  <a:srgbClr val="4A5A6C"/>
                </a:solidFill>
                <a:latin typeface="Calibri" pitchFamily="34" charset="0"/>
                <a:ea typeface="Calibri" pitchFamily="34" charset="-122"/>
                <a:cs typeface="Calibri" pitchFamily="34" charset="-120"/>
              </a:rPr>
              <a:t>Berufsstand: WPK, IDW</a:t>
            </a:r>
            <a:endParaRPr lang="en-US" sz="1300" dirty="0"/>
          </a:p>
          <a:p>
            <a:pPr marL="342900" indent="-342900">
              <a:spcAft>
                <a:spcPts val="600"/>
              </a:spcAft>
              <a:buSzPct val="100000"/>
              <a:buChar char="•"/>
            </a:pPr>
            <a:r>
              <a:rPr lang="en-US" sz="1300" dirty="0">
                <a:solidFill>
                  <a:srgbClr val="4A5A6C"/>
                </a:solidFill>
                <a:latin typeface="Calibri" pitchFamily="34" charset="0"/>
                <a:ea typeface="Calibri" pitchFamily="34" charset="-122"/>
                <a:cs typeface="Calibri" pitchFamily="34" charset="-120"/>
              </a:rPr>
              <a:t>EU-Richtlinie 2024/825, Fachmedien und eine Studie zu 476 Websites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REALITY CHECK</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Jede zweite werbende Firma verstößt gegen die Regeln</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 Haufe, „Studie: Jede zweite Firma kommuniziert regelwidrig“ (Studie von Wortliga und media4nature, 08/2026)</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508760"/>
            <a:ext cx="11064240" cy="365760"/>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Auswertung von 476 Unternehmenswebsites, sieben Wochen vor dem Stichtag. 345 Firmen werben aktiv mit Nachhaltigkeitsaussagen.</a:t>
            </a:r>
            <a:endParaRPr lang="en-US" sz="1500" dirty="0"/>
          </a:p>
        </p:txBody>
      </p:sp>
      <p:graphicFrame>
        <p:nvGraphicFramePr>
          <p:cNvPr id="7" name="Chart 0" descr=""/>
          <p:cNvGraphicFramePr/>
          <p:nvPr/>
        </p:nvGraphicFramePr>
        <p:xfrm>
          <a:off x="731520" y="2057400"/>
          <a:ext cx="4206240" cy="4023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920240" y="3520440"/>
            <a:ext cx="1828800" cy="640080"/>
          </a:xfrm>
          <a:prstGeom prst="rect">
            <a:avLst/>
          </a:prstGeom>
          <a:noFill/>
          <a:ln/>
        </p:spPr>
        <p:txBody>
          <a:bodyPr wrap="square" lIns="0" tIns="0" rIns="0" bIns="0" rtlCol="0" anchor="ctr"/>
          <a:lstStyle/>
          <a:p>
            <a:pPr algn="ctr" indent="0" marL="0">
              <a:buNone/>
            </a:pPr>
            <a:r>
              <a:rPr lang="en-US" sz="4000" b="1" dirty="0">
                <a:solidFill>
                  <a:srgbClr val="13233A"/>
                </a:solidFill>
                <a:latin typeface="Cambria" pitchFamily="34" charset="0"/>
                <a:ea typeface="Cambria" pitchFamily="34" charset="-122"/>
                <a:cs typeface="Cambria" pitchFamily="34" charset="-120"/>
              </a:rPr>
              <a:t>345</a:t>
            </a:r>
            <a:endParaRPr lang="en-US" sz="4000" dirty="0"/>
          </a:p>
        </p:txBody>
      </p:sp>
      <p:sp>
        <p:nvSpPr>
          <p:cNvPr id="9" name="Text 6"/>
          <p:cNvSpPr txBox="1"/>
          <p:nvPr/>
        </p:nvSpPr>
        <p:spPr>
          <a:xfrm>
            <a:off x="1828800" y="4160520"/>
            <a:ext cx="2011680" cy="548640"/>
          </a:xfrm>
          <a:prstGeom prst="rect">
            <a:avLst/>
          </a:prstGeom>
          <a:noFill/>
          <a:ln/>
        </p:spPr>
        <p:txBody>
          <a:bodyPr wrap="square" lIns="0" tIns="0" rIns="0" bIns="0" rtlCol="0" anchor="t"/>
          <a:lstStyle/>
          <a:p>
            <a:pPr algn="ctr" indent="0" marL="0">
              <a:buNone/>
            </a:pPr>
            <a:r>
              <a:rPr lang="en-US" sz="1200" dirty="0">
                <a:solidFill>
                  <a:srgbClr val="4A5A6C"/>
                </a:solidFill>
                <a:latin typeface="Calibri" pitchFamily="34" charset="0"/>
                <a:ea typeface="Calibri" pitchFamily="34" charset="-122"/>
                <a:cs typeface="Calibri" pitchFamily="34" charset="-120"/>
              </a:rPr>
              <a:t>Firmen mit Nachhaltigkeitsaussagen</a:t>
            </a:r>
            <a:endParaRPr lang="en-US" sz="1200" dirty="0"/>
          </a:p>
        </p:txBody>
      </p:sp>
      <p:sp>
        <p:nvSpPr>
          <p:cNvPr id="10" name="Shape 7"/>
          <p:cNvSpPr/>
          <p:nvPr/>
        </p:nvSpPr>
        <p:spPr>
          <a:xfrm>
            <a:off x="5669280" y="2423160"/>
            <a:ext cx="274320" cy="274320"/>
          </a:xfrm>
          <a:prstGeom prst="ellipse">
            <a:avLst/>
          </a:prstGeom>
          <a:solidFill>
            <a:srgbClr val="B04A16"/>
          </a:solidFill>
          <a:ln w="6350">
            <a:solidFill>
              <a:srgbClr val="B04A16"/>
            </a:solidFill>
            <a:prstDash val="solid"/>
          </a:ln>
        </p:spPr>
      </p:sp>
      <p:sp>
        <p:nvSpPr>
          <p:cNvPr id="11" name="Text 8"/>
          <p:cNvSpPr txBox="1"/>
          <p:nvPr/>
        </p:nvSpPr>
        <p:spPr>
          <a:xfrm>
            <a:off x="6126480" y="2148840"/>
            <a:ext cx="1463040" cy="822960"/>
          </a:xfrm>
          <a:prstGeom prst="rect">
            <a:avLst/>
          </a:prstGeom>
          <a:noFill/>
          <a:ln/>
        </p:spPr>
        <p:txBody>
          <a:bodyPr wrap="square" lIns="0" tIns="0" rIns="0" bIns="0" rtlCol="0" anchor="ctr"/>
          <a:lstStyle/>
          <a:p>
            <a:pPr indent="0" marL="0">
              <a:buNone/>
            </a:pPr>
            <a:r>
              <a:rPr lang="en-US" sz="4000" b="1" dirty="0">
                <a:solidFill>
                  <a:srgbClr val="B04A16"/>
                </a:solidFill>
                <a:latin typeface="Cambria" pitchFamily="34" charset="0"/>
                <a:ea typeface="Cambria" pitchFamily="34" charset="-122"/>
                <a:cs typeface="Cambria" pitchFamily="34" charset="-120"/>
              </a:rPr>
              <a:t>176</a:t>
            </a:r>
            <a:endParaRPr lang="en-US" sz="4000" dirty="0"/>
          </a:p>
        </p:txBody>
      </p:sp>
      <p:sp>
        <p:nvSpPr>
          <p:cNvPr id="12" name="Text 9"/>
          <p:cNvSpPr txBox="1"/>
          <p:nvPr/>
        </p:nvSpPr>
        <p:spPr>
          <a:xfrm>
            <a:off x="7635240" y="2148840"/>
            <a:ext cx="3977640" cy="822960"/>
          </a:xfrm>
          <a:prstGeom prst="rect">
            <a:avLst/>
          </a:prstGeom>
          <a:noFill/>
          <a:ln/>
        </p:spPr>
        <p:txBody>
          <a:bodyPr wrap="square" lIns="0" tIns="0" rIns="0" bIns="0" rtlCol="0" anchor="ctr"/>
          <a:lstStyle/>
          <a:p>
            <a:pPr indent="0" marL="0">
              <a:buNone/>
            </a:pPr>
            <a:r>
              <a:rPr lang="en-US" sz="1700" dirty="0">
                <a:solidFill>
                  <a:srgbClr val="13233A"/>
                </a:solidFill>
                <a:latin typeface="Calibri" pitchFamily="34" charset="0"/>
                <a:ea typeface="Calibri" pitchFamily="34" charset="-122"/>
                <a:cs typeface="Calibri" pitchFamily="34" charset="-120"/>
              </a:rPr>
              <a:t>51 % weisen mindestens einen Verstoß auf</a:t>
            </a:r>
            <a:endParaRPr lang="en-US" sz="1700" dirty="0"/>
          </a:p>
        </p:txBody>
      </p:sp>
      <p:sp>
        <p:nvSpPr>
          <p:cNvPr id="13" name="Shape 10"/>
          <p:cNvSpPr/>
          <p:nvPr/>
        </p:nvSpPr>
        <p:spPr>
          <a:xfrm>
            <a:off x="5669280" y="3447288"/>
            <a:ext cx="274320" cy="274320"/>
          </a:xfrm>
          <a:prstGeom prst="ellipse">
            <a:avLst/>
          </a:prstGeom>
          <a:solidFill>
            <a:srgbClr val="1F6F63"/>
          </a:solidFill>
          <a:ln w="6350">
            <a:solidFill>
              <a:srgbClr val="1F6F63"/>
            </a:solidFill>
            <a:prstDash val="solid"/>
          </a:ln>
        </p:spPr>
      </p:sp>
      <p:sp>
        <p:nvSpPr>
          <p:cNvPr id="14" name="Text 11"/>
          <p:cNvSpPr txBox="1"/>
          <p:nvPr/>
        </p:nvSpPr>
        <p:spPr>
          <a:xfrm>
            <a:off x="6126480" y="3172968"/>
            <a:ext cx="1463040" cy="822960"/>
          </a:xfrm>
          <a:prstGeom prst="rect">
            <a:avLst/>
          </a:prstGeom>
          <a:noFill/>
          <a:ln/>
        </p:spPr>
        <p:txBody>
          <a:bodyPr wrap="square" lIns="0" tIns="0" rIns="0" bIns="0" rtlCol="0" anchor="ctr"/>
          <a:lstStyle/>
          <a:p>
            <a:pPr indent="0" marL="0">
              <a:buNone/>
            </a:pPr>
            <a:r>
              <a:rPr lang="en-US" sz="4000" b="1" dirty="0">
                <a:solidFill>
                  <a:srgbClr val="1F6F63"/>
                </a:solidFill>
                <a:latin typeface="Cambria" pitchFamily="34" charset="0"/>
                <a:ea typeface="Cambria" pitchFamily="34" charset="-122"/>
                <a:cs typeface="Cambria" pitchFamily="34" charset="-120"/>
              </a:rPr>
              <a:t>167</a:t>
            </a:r>
            <a:endParaRPr lang="en-US" sz="4000" dirty="0"/>
          </a:p>
        </p:txBody>
      </p:sp>
      <p:sp>
        <p:nvSpPr>
          <p:cNvPr id="15" name="Text 12"/>
          <p:cNvSpPr txBox="1"/>
          <p:nvPr/>
        </p:nvSpPr>
        <p:spPr>
          <a:xfrm>
            <a:off x="7635240" y="3172968"/>
            <a:ext cx="3977640" cy="822960"/>
          </a:xfrm>
          <a:prstGeom prst="rect">
            <a:avLst/>
          </a:prstGeom>
          <a:noFill/>
          <a:ln/>
        </p:spPr>
        <p:txBody>
          <a:bodyPr wrap="square" lIns="0" tIns="0" rIns="0" bIns="0" rtlCol="0" anchor="ctr"/>
          <a:lstStyle/>
          <a:p>
            <a:pPr indent="0" marL="0">
              <a:buNone/>
            </a:pPr>
            <a:r>
              <a:rPr lang="en-US" sz="1700" dirty="0">
                <a:solidFill>
                  <a:srgbClr val="13233A"/>
                </a:solidFill>
                <a:latin typeface="Calibri" pitchFamily="34" charset="0"/>
                <a:ea typeface="Calibri" pitchFamily="34" charset="-122"/>
                <a:cs typeface="Calibri" pitchFamily="34" charset="-120"/>
              </a:rPr>
              <a:t>48 % kommunizieren regelkonform</a:t>
            </a:r>
            <a:endParaRPr lang="en-US" sz="1700" dirty="0"/>
          </a:p>
        </p:txBody>
      </p:sp>
      <p:sp>
        <p:nvSpPr>
          <p:cNvPr id="16" name="Shape 13"/>
          <p:cNvSpPr/>
          <p:nvPr/>
        </p:nvSpPr>
        <p:spPr>
          <a:xfrm>
            <a:off x="5669280" y="4471416"/>
            <a:ext cx="274320" cy="274320"/>
          </a:xfrm>
          <a:prstGeom prst="ellipse">
            <a:avLst/>
          </a:prstGeom>
          <a:solidFill>
            <a:srgbClr val="AEB8C4"/>
          </a:solidFill>
          <a:ln w="6350">
            <a:solidFill>
              <a:srgbClr val="AEB8C4"/>
            </a:solidFill>
            <a:prstDash val="solid"/>
          </a:ln>
        </p:spPr>
      </p:sp>
      <p:sp>
        <p:nvSpPr>
          <p:cNvPr id="17" name="Text 14"/>
          <p:cNvSpPr txBox="1"/>
          <p:nvPr/>
        </p:nvSpPr>
        <p:spPr>
          <a:xfrm>
            <a:off x="6126480" y="4197096"/>
            <a:ext cx="1463040" cy="822960"/>
          </a:xfrm>
          <a:prstGeom prst="rect">
            <a:avLst/>
          </a:prstGeom>
          <a:noFill/>
          <a:ln/>
        </p:spPr>
        <p:txBody>
          <a:bodyPr wrap="square" lIns="0" tIns="0" rIns="0" bIns="0" rtlCol="0" anchor="ctr"/>
          <a:lstStyle/>
          <a:p>
            <a:pPr indent="0" marL="0">
              <a:buNone/>
            </a:pPr>
            <a:r>
              <a:rPr lang="en-US" sz="4000" b="1" dirty="0">
                <a:solidFill>
                  <a:srgbClr val="4A5A6C"/>
                </a:solidFill>
                <a:latin typeface="Cambria" pitchFamily="34" charset="0"/>
                <a:ea typeface="Cambria" pitchFamily="34" charset="-122"/>
                <a:cs typeface="Cambria" pitchFamily="34" charset="-120"/>
              </a:rPr>
              <a:t>2</a:t>
            </a:r>
            <a:endParaRPr lang="en-US" sz="4000" dirty="0"/>
          </a:p>
        </p:txBody>
      </p:sp>
      <p:sp>
        <p:nvSpPr>
          <p:cNvPr id="18" name="Text 15"/>
          <p:cNvSpPr txBox="1"/>
          <p:nvPr/>
        </p:nvSpPr>
        <p:spPr>
          <a:xfrm>
            <a:off x="7635240" y="4197096"/>
            <a:ext cx="3977640" cy="822960"/>
          </a:xfrm>
          <a:prstGeom prst="rect">
            <a:avLst/>
          </a:prstGeom>
          <a:noFill/>
          <a:ln/>
        </p:spPr>
        <p:txBody>
          <a:bodyPr wrap="square" lIns="0" tIns="0" rIns="0" bIns="0" rtlCol="0" anchor="ctr"/>
          <a:lstStyle/>
          <a:p>
            <a:pPr indent="0" marL="0">
              <a:buNone/>
            </a:pPr>
            <a:r>
              <a:rPr lang="en-US" sz="1700" dirty="0">
                <a:solidFill>
                  <a:srgbClr val="13233A"/>
                </a:solidFill>
                <a:latin typeface="Calibri" pitchFamily="34" charset="0"/>
                <a:ea typeface="Calibri" pitchFamily="34" charset="-122"/>
                <a:cs typeface="Calibri" pitchFamily="34" charset="-120"/>
              </a:rPr>
              <a:t>kein eindeutiges Urteil möglich</a:t>
            </a:r>
            <a:endParaRPr lang="en-US" sz="1700" dirty="0"/>
          </a:p>
        </p:txBody>
      </p:sp>
      <p:sp>
        <p:nvSpPr>
          <p:cNvPr id="19" name="Shape 16"/>
          <p:cNvSpPr/>
          <p:nvPr/>
        </p:nvSpPr>
        <p:spPr>
          <a:xfrm>
            <a:off x="5669280" y="5303520"/>
            <a:ext cx="5971032" cy="777240"/>
          </a:xfrm>
          <a:prstGeom prst="roundRect">
            <a:avLst>
              <a:gd name="adj" fmla="val 11765"/>
            </a:avLst>
          </a:prstGeom>
          <a:solidFill>
            <a:srgbClr val="E4F1EE"/>
          </a:solidFill>
          <a:ln w="9525">
            <a:solidFill>
              <a:srgbClr val="E4F1EE"/>
            </a:solidFill>
            <a:prstDash val="solid"/>
          </a:ln>
        </p:spPr>
      </p:sp>
      <p:sp>
        <p:nvSpPr>
          <p:cNvPr id="20" name="Text 17"/>
          <p:cNvSpPr txBox="1"/>
          <p:nvPr/>
        </p:nvSpPr>
        <p:spPr>
          <a:xfrm>
            <a:off x="5897880" y="5303520"/>
            <a:ext cx="5577840" cy="777240"/>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Der Handlungsbedarf ist real, unabhängig von der USP-Frage.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1 · BETROFFENE BRANCHEN</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Betroffen ist, wer grün wirbt oder Reparatur verspricht</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KPMG, „EmpCo 2026: Neue Regeln für Umweltangaben“ · Rödl &amp; Partner, „EmpCo: Was Stadtwerke bei Umweltclaims beachten müssen“</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72768"/>
            <a:ext cx="3566160" cy="1874520"/>
          </a:xfrm>
          <a:prstGeom prst="roundRect">
            <a:avLst>
              <a:gd name="adj" fmla="val 4878"/>
            </a:avLst>
          </a:prstGeom>
          <a:solidFill>
            <a:srgbClr val="F3F5F7"/>
          </a:solidFill>
          <a:ln w="9525">
            <a:solidFill>
              <a:srgbClr val="F3F5F7"/>
            </a:solidFill>
            <a:prstDash val="solid"/>
          </a:ln>
        </p:spPr>
      </p:sp>
      <p:sp>
        <p:nvSpPr>
          <p:cNvPr id="7" name="Shape 5"/>
          <p:cNvSpPr/>
          <p:nvPr/>
        </p:nvSpPr>
        <p:spPr>
          <a:xfrm>
            <a:off x="749808" y="1773936"/>
            <a:ext cx="475488" cy="475488"/>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873435" y="1897563"/>
            <a:ext cx="228234" cy="228234"/>
          </a:xfrm>
          <a:prstGeom prst="rect">
            <a:avLst/>
          </a:prstGeom>
        </p:spPr>
      </p:pic>
      <p:sp>
        <p:nvSpPr>
          <p:cNvPr id="9" name="Text 6"/>
          <p:cNvSpPr txBox="1"/>
          <p:nvPr/>
        </p:nvSpPr>
        <p:spPr>
          <a:xfrm>
            <a:off x="1371600" y="17739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Automobilindustrie</a:t>
            </a:r>
            <a:endParaRPr lang="en-US" sz="1600" dirty="0"/>
          </a:p>
        </p:txBody>
      </p:sp>
      <p:sp>
        <p:nvSpPr>
          <p:cNvPr id="10" name="Text 7"/>
          <p:cNvSpPr txBox="1"/>
          <p:nvPr/>
        </p:nvSpPr>
        <p:spPr>
          <a:xfrm>
            <a:off x="749808" y="23774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Das ganze Ökosystem muss über den Lebenszyklus verfügbar bleiben, auch digitale Services. Endet die Verfügbarkeit, sind Kunden aktiv zu informieren.</a:t>
            </a:r>
            <a:endParaRPr lang="en-US" sz="1300" dirty="0"/>
          </a:p>
        </p:txBody>
      </p:sp>
      <p:sp>
        <p:nvSpPr>
          <p:cNvPr id="11" name="Shape 8"/>
          <p:cNvSpPr/>
          <p:nvPr/>
        </p:nvSpPr>
        <p:spPr>
          <a:xfrm>
            <a:off x="4311396" y="1572768"/>
            <a:ext cx="3566160" cy="1874520"/>
          </a:xfrm>
          <a:prstGeom prst="roundRect">
            <a:avLst>
              <a:gd name="adj" fmla="val 4878"/>
            </a:avLst>
          </a:prstGeom>
          <a:solidFill>
            <a:srgbClr val="F3F5F7"/>
          </a:solidFill>
          <a:ln w="9525">
            <a:solidFill>
              <a:srgbClr val="F3F5F7"/>
            </a:solidFill>
            <a:prstDash val="solid"/>
          </a:ln>
        </p:spPr>
      </p:sp>
      <p:sp>
        <p:nvSpPr>
          <p:cNvPr id="12" name="Shape 9"/>
          <p:cNvSpPr/>
          <p:nvPr/>
        </p:nvSpPr>
        <p:spPr>
          <a:xfrm>
            <a:off x="4512564" y="1773936"/>
            <a:ext cx="475488" cy="475488"/>
          </a:xfrm>
          <a:prstGeom prst="ellipse">
            <a:avLst/>
          </a:prstGeom>
          <a:solidFill>
            <a:srgbClr val="1F6F63"/>
          </a:solidFill>
          <a:ln w="6350">
            <a:solidFill>
              <a:srgbClr val="1F6F63"/>
            </a:solidFill>
            <a:prstDash val="solid"/>
          </a:ln>
        </p:spPr>
      </p:sp>
      <p:pic>
        <p:nvPicPr>
          <p:cNvPr id="13" name="Image 1" descr="preencoded.png">    </p:cNvPr>
          <p:cNvPicPr>
            <a:picLocks noChangeAspect="1"/>
          </p:cNvPicPr>
          <p:nvPr/>
        </p:nvPicPr>
        <p:blipFill>
          <a:blip r:embed="rId2"/>
          <a:stretch>
            <a:fillRect/>
          </a:stretch>
        </p:blipFill>
        <p:spPr>
          <a:xfrm>
            <a:off x="4636191" y="1897563"/>
            <a:ext cx="228234" cy="228234"/>
          </a:xfrm>
          <a:prstGeom prst="rect">
            <a:avLst/>
          </a:prstGeom>
        </p:spPr>
      </p:pic>
      <p:sp>
        <p:nvSpPr>
          <p:cNvPr id="14" name="Text 10"/>
          <p:cNvSpPr txBox="1"/>
          <p:nvPr/>
        </p:nvSpPr>
        <p:spPr>
          <a:xfrm>
            <a:off x="5134356" y="17739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Konsumgüter</a:t>
            </a:r>
            <a:endParaRPr lang="en-US" sz="1600" dirty="0"/>
          </a:p>
        </p:txBody>
      </p:sp>
      <p:sp>
        <p:nvSpPr>
          <p:cNvPr id="15" name="Text 11"/>
          <p:cNvSpPr txBox="1"/>
          <p:nvPr/>
        </p:nvSpPr>
        <p:spPr>
          <a:xfrm>
            <a:off x="4512564" y="23774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Produkte müssen nachweislich langlebig und reparierbar sein, mit transparenten Aussagen zu Updates und Ersatzteilen.</a:t>
            </a:r>
            <a:endParaRPr lang="en-US" sz="1300" dirty="0"/>
          </a:p>
        </p:txBody>
      </p:sp>
      <p:sp>
        <p:nvSpPr>
          <p:cNvPr id="16" name="Shape 12"/>
          <p:cNvSpPr/>
          <p:nvPr/>
        </p:nvSpPr>
        <p:spPr>
          <a:xfrm>
            <a:off x="8074152" y="1572768"/>
            <a:ext cx="3566160" cy="1874520"/>
          </a:xfrm>
          <a:prstGeom prst="roundRect">
            <a:avLst>
              <a:gd name="adj" fmla="val 4878"/>
            </a:avLst>
          </a:prstGeom>
          <a:solidFill>
            <a:srgbClr val="F3F5F7"/>
          </a:solidFill>
          <a:ln w="9525">
            <a:solidFill>
              <a:srgbClr val="F3F5F7"/>
            </a:solidFill>
            <a:prstDash val="solid"/>
          </a:ln>
        </p:spPr>
      </p:sp>
      <p:sp>
        <p:nvSpPr>
          <p:cNvPr id="17" name="Shape 13"/>
          <p:cNvSpPr/>
          <p:nvPr/>
        </p:nvSpPr>
        <p:spPr>
          <a:xfrm>
            <a:off x="8275320" y="1773936"/>
            <a:ext cx="475488" cy="475488"/>
          </a:xfrm>
          <a:prstGeom prst="ellipse">
            <a:avLst/>
          </a:prstGeom>
          <a:solidFill>
            <a:srgbClr val="1F6F63"/>
          </a:solidFill>
          <a:ln w="6350">
            <a:solidFill>
              <a:srgbClr val="1F6F63"/>
            </a:solidFill>
            <a:prstDash val="solid"/>
          </a:ln>
        </p:spPr>
      </p:sp>
      <p:pic>
        <p:nvPicPr>
          <p:cNvPr id="18" name="Image 2" descr="preencoded.png">    </p:cNvPr>
          <p:cNvPicPr>
            <a:picLocks noChangeAspect="1"/>
          </p:cNvPicPr>
          <p:nvPr/>
        </p:nvPicPr>
        <p:blipFill>
          <a:blip r:embed="rId3"/>
          <a:stretch>
            <a:fillRect/>
          </a:stretch>
        </p:blipFill>
        <p:spPr>
          <a:xfrm>
            <a:off x="8398947" y="1897563"/>
            <a:ext cx="228234" cy="228234"/>
          </a:xfrm>
          <a:prstGeom prst="rect">
            <a:avLst/>
          </a:prstGeom>
        </p:spPr>
      </p:pic>
      <p:sp>
        <p:nvSpPr>
          <p:cNvPr id="19" name="Text 14"/>
          <p:cNvSpPr txBox="1"/>
          <p:nvPr/>
        </p:nvSpPr>
        <p:spPr>
          <a:xfrm>
            <a:off x="8897112" y="17739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Elektronik</a:t>
            </a:r>
            <a:endParaRPr lang="en-US" sz="1600" dirty="0"/>
          </a:p>
        </p:txBody>
      </p:sp>
      <p:sp>
        <p:nvSpPr>
          <p:cNvPr id="20" name="Text 15"/>
          <p:cNvSpPr txBox="1"/>
          <p:nvPr/>
        </p:nvSpPr>
        <p:spPr>
          <a:xfrm>
            <a:off x="8275320" y="23774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Hersteller müssen die Dauer von Funktions- und Sicherheitsupdates klar benennen.</a:t>
            </a:r>
            <a:endParaRPr lang="en-US" sz="1300" dirty="0"/>
          </a:p>
        </p:txBody>
      </p:sp>
      <p:sp>
        <p:nvSpPr>
          <p:cNvPr id="21" name="Shape 16"/>
          <p:cNvSpPr/>
          <p:nvPr/>
        </p:nvSpPr>
        <p:spPr>
          <a:xfrm>
            <a:off x="548640" y="3630168"/>
            <a:ext cx="3566160" cy="1874520"/>
          </a:xfrm>
          <a:prstGeom prst="roundRect">
            <a:avLst>
              <a:gd name="adj" fmla="val 4878"/>
            </a:avLst>
          </a:prstGeom>
          <a:solidFill>
            <a:srgbClr val="F3F5F7"/>
          </a:solidFill>
          <a:ln w="9525">
            <a:solidFill>
              <a:srgbClr val="F3F5F7"/>
            </a:solidFill>
            <a:prstDash val="solid"/>
          </a:ln>
        </p:spPr>
      </p:sp>
      <p:sp>
        <p:nvSpPr>
          <p:cNvPr id="22" name="Shape 17"/>
          <p:cNvSpPr/>
          <p:nvPr/>
        </p:nvSpPr>
        <p:spPr>
          <a:xfrm>
            <a:off x="749808" y="3831336"/>
            <a:ext cx="475488" cy="475488"/>
          </a:xfrm>
          <a:prstGeom prst="ellipse">
            <a:avLst/>
          </a:prstGeom>
          <a:solidFill>
            <a:srgbClr val="1F6F63"/>
          </a:solidFill>
          <a:ln w="6350">
            <a:solidFill>
              <a:srgbClr val="1F6F63"/>
            </a:solidFill>
            <a:prstDash val="solid"/>
          </a:ln>
        </p:spPr>
      </p:sp>
      <p:pic>
        <p:nvPicPr>
          <p:cNvPr id="23" name="Image 3" descr="preencoded.png">    </p:cNvPr>
          <p:cNvPicPr>
            <a:picLocks noChangeAspect="1"/>
          </p:cNvPicPr>
          <p:nvPr/>
        </p:nvPicPr>
        <p:blipFill>
          <a:blip r:embed="rId4"/>
          <a:stretch>
            <a:fillRect/>
          </a:stretch>
        </p:blipFill>
        <p:spPr>
          <a:xfrm>
            <a:off x="873435" y="3954963"/>
            <a:ext cx="228234" cy="228234"/>
          </a:xfrm>
          <a:prstGeom prst="rect">
            <a:avLst/>
          </a:prstGeom>
        </p:spPr>
      </p:pic>
      <p:sp>
        <p:nvSpPr>
          <p:cNvPr id="24" name="Text 18"/>
          <p:cNvSpPr txBox="1"/>
          <p:nvPr/>
        </p:nvSpPr>
        <p:spPr>
          <a:xfrm>
            <a:off x="1371600" y="38313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Händler und Vorprodukte</a:t>
            </a:r>
            <a:endParaRPr lang="en-US" sz="1600" dirty="0"/>
          </a:p>
        </p:txBody>
      </p:sp>
      <p:sp>
        <p:nvSpPr>
          <p:cNvPr id="25" name="Text 19"/>
          <p:cNvSpPr txBox="1"/>
          <p:nvPr/>
        </p:nvSpPr>
        <p:spPr>
          <a:xfrm>
            <a:off x="749808" y="44348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Umweltinformationen müssen korrekt und vollständig entlang der Lieferkette weitergegeben werden.</a:t>
            </a:r>
            <a:endParaRPr lang="en-US" sz="1300" dirty="0"/>
          </a:p>
        </p:txBody>
      </p:sp>
      <p:sp>
        <p:nvSpPr>
          <p:cNvPr id="26" name="Shape 20"/>
          <p:cNvSpPr/>
          <p:nvPr/>
        </p:nvSpPr>
        <p:spPr>
          <a:xfrm>
            <a:off x="4311396" y="3630168"/>
            <a:ext cx="3566160" cy="1874520"/>
          </a:xfrm>
          <a:prstGeom prst="roundRect">
            <a:avLst>
              <a:gd name="adj" fmla="val 4878"/>
            </a:avLst>
          </a:prstGeom>
          <a:solidFill>
            <a:srgbClr val="F3F5F7"/>
          </a:solidFill>
          <a:ln w="9525">
            <a:solidFill>
              <a:srgbClr val="F3F5F7"/>
            </a:solidFill>
            <a:prstDash val="solid"/>
          </a:ln>
        </p:spPr>
      </p:sp>
      <p:sp>
        <p:nvSpPr>
          <p:cNvPr id="27" name="Shape 21"/>
          <p:cNvSpPr/>
          <p:nvPr/>
        </p:nvSpPr>
        <p:spPr>
          <a:xfrm>
            <a:off x="4512564" y="3831336"/>
            <a:ext cx="475488" cy="475488"/>
          </a:xfrm>
          <a:prstGeom prst="ellipse">
            <a:avLst/>
          </a:prstGeom>
          <a:solidFill>
            <a:srgbClr val="1F6F63"/>
          </a:solidFill>
          <a:ln w="6350">
            <a:solidFill>
              <a:srgbClr val="1F6F63"/>
            </a:solidFill>
            <a:prstDash val="solid"/>
          </a:ln>
        </p:spPr>
      </p:sp>
      <p:pic>
        <p:nvPicPr>
          <p:cNvPr id="28" name="Image 4" descr="preencoded.png">    </p:cNvPr>
          <p:cNvPicPr>
            <a:picLocks noChangeAspect="1"/>
          </p:cNvPicPr>
          <p:nvPr/>
        </p:nvPicPr>
        <p:blipFill>
          <a:blip r:embed="rId5"/>
          <a:stretch>
            <a:fillRect/>
          </a:stretch>
        </p:blipFill>
        <p:spPr>
          <a:xfrm>
            <a:off x="4636191" y="3954963"/>
            <a:ext cx="228234" cy="228234"/>
          </a:xfrm>
          <a:prstGeom prst="rect">
            <a:avLst/>
          </a:prstGeom>
        </p:spPr>
      </p:pic>
      <p:sp>
        <p:nvSpPr>
          <p:cNvPr id="29" name="Text 22"/>
          <p:cNvSpPr txBox="1"/>
          <p:nvPr/>
        </p:nvSpPr>
        <p:spPr>
          <a:xfrm>
            <a:off x="5134356" y="38313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Digitale Plattformen</a:t>
            </a:r>
            <a:endParaRPr lang="en-US" sz="1600" dirty="0"/>
          </a:p>
        </p:txBody>
      </p:sp>
      <p:sp>
        <p:nvSpPr>
          <p:cNvPr id="30" name="Text 23"/>
          <p:cNvSpPr txBox="1"/>
          <p:nvPr/>
        </p:nvSpPr>
        <p:spPr>
          <a:xfrm>
            <a:off x="4512564" y="44348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Web- und App-Services mit Umweltangaben unterliegen den Transparenzpflichten und müssen ihre Aussagen dokumentieren.</a:t>
            </a:r>
            <a:endParaRPr lang="en-US" sz="1300" dirty="0"/>
          </a:p>
        </p:txBody>
      </p:sp>
      <p:sp>
        <p:nvSpPr>
          <p:cNvPr id="31" name="Shape 24"/>
          <p:cNvSpPr/>
          <p:nvPr/>
        </p:nvSpPr>
        <p:spPr>
          <a:xfrm>
            <a:off x="8074152" y="3630168"/>
            <a:ext cx="3566160" cy="1874520"/>
          </a:xfrm>
          <a:prstGeom prst="roundRect">
            <a:avLst>
              <a:gd name="adj" fmla="val 4878"/>
            </a:avLst>
          </a:prstGeom>
          <a:solidFill>
            <a:srgbClr val="F3F5F7"/>
          </a:solidFill>
          <a:ln w="9525">
            <a:solidFill>
              <a:srgbClr val="F3F5F7"/>
            </a:solidFill>
            <a:prstDash val="solid"/>
          </a:ln>
        </p:spPr>
      </p:sp>
      <p:sp>
        <p:nvSpPr>
          <p:cNvPr id="32" name="Shape 25"/>
          <p:cNvSpPr/>
          <p:nvPr/>
        </p:nvSpPr>
        <p:spPr>
          <a:xfrm>
            <a:off x="8275320" y="3831336"/>
            <a:ext cx="475488" cy="475488"/>
          </a:xfrm>
          <a:prstGeom prst="ellipse">
            <a:avLst/>
          </a:prstGeom>
          <a:solidFill>
            <a:srgbClr val="B04A16"/>
          </a:solidFill>
          <a:ln w="6350">
            <a:solidFill>
              <a:srgbClr val="B04A16"/>
            </a:solidFill>
            <a:prstDash val="solid"/>
          </a:ln>
        </p:spPr>
      </p:sp>
      <p:pic>
        <p:nvPicPr>
          <p:cNvPr id="33" name="Image 5" descr="preencoded.png">    </p:cNvPr>
          <p:cNvPicPr>
            <a:picLocks noChangeAspect="1"/>
          </p:cNvPicPr>
          <p:nvPr/>
        </p:nvPicPr>
        <p:blipFill>
          <a:blip r:embed="rId6"/>
          <a:stretch>
            <a:fillRect/>
          </a:stretch>
        </p:blipFill>
        <p:spPr>
          <a:xfrm>
            <a:off x="8398947" y="3954963"/>
            <a:ext cx="228234" cy="228234"/>
          </a:xfrm>
          <a:prstGeom prst="rect">
            <a:avLst/>
          </a:prstGeom>
        </p:spPr>
      </p:pic>
      <p:sp>
        <p:nvSpPr>
          <p:cNvPr id="34" name="Text 26"/>
          <p:cNvSpPr txBox="1"/>
          <p:nvPr/>
        </p:nvSpPr>
        <p:spPr>
          <a:xfrm>
            <a:off x="8897112" y="3831336"/>
            <a:ext cx="2560320" cy="475488"/>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Energie und Stadtwerke</a:t>
            </a:r>
            <a:endParaRPr lang="en-US" sz="1600" dirty="0"/>
          </a:p>
        </p:txBody>
      </p:sp>
      <p:sp>
        <p:nvSpPr>
          <p:cNvPr id="35" name="Text 27"/>
          <p:cNvSpPr txBox="1"/>
          <p:nvPr/>
        </p:nvSpPr>
        <p:spPr>
          <a:xfrm>
            <a:off x="8275320" y="4434840"/>
            <a:ext cx="3163824" cy="96012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Inflationäres Aufkommen grüner Claims: Ökostrom, grünes Erdgas, „klimaneutral“.</a:t>
            </a:r>
            <a:endParaRPr lang="en-US" sz="1300" dirty="0"/>
          </a:p>
        </p:txBody>
      </p:sp>
      <p:sp>
        <p:nvSpPr>
          <p:cNvPr id="36" name="Shape 28"/>
          <p:cNvSpPr/>
          <p:nvPr/>
        </p:nvSpPr>
        <p:spPr>
          <a:xfrm>
            <a:off x="548640" y="5623560"/>
            <a:ext cx="11091672" cy="566928"/>
          </a:xfrm>
          <a:prstGeom prst="roundRect">
            <a:avLst>
              <a:gd name="adj" fmla="val 16129"/>
            </a:avLst>
          </a:prstGeom>
          <a:solidFill>
            <a:srgbClr val="E4F1EE"/>
          </a:solidFill>
          <a:ln w="9525">
            <a:solidFill>
              <a:srgbClr val="E4F1EE"/>
            </a:solidFill>
            <a:prstDash val="solid"/>
          </a:ln>
        </p:spPr>
      </p:sp>
      <p:sp>
        <p:nvSpPr>
          <p:cNvPr id="37" name="Text 29"/>
          <p:cNvSpPr txBox="1"/>
          <p:nvPr/>
        </p:nvSpPr>
        <p:spPr>
          <a:xfrm>
            <a:off x="777240" y="5623560"/>
            <a:ext cx="10698480" cy="566928"/>
          </a:xfrm>
          <a:prstGeom prst="rect">
            <a:avLst/>
          </a:prstGeom>
          <a:noFill/>
          <a:ln/>
        </p:spPr>
        <p:txBody>
          <a:bodyPr wrap="square" lIns="0" tIns="0" rIns="0" bIns="0" rtlCol="0" anchor="ctr"/>
          <a:lstStyle/>
          <a:p>
            <a:pPr indent="0" marL="0">
              <a:buNone/>
            </a:pPr>
            <a:r>
              <a:rPr lang="en-US" sz="1400" b="1" dirty="0">
                <a:solidFill>
                  <a:srgbClr val="1F6F63"/>
                </a:solidFill>
                <a:latin typeface="Calibri" pitchFamily="34" charset="0"/>
                <a:ea typeface="Calibri" pitchFamily="34" charset="-122"/>
                <a:cs typeface="Calibri" pitchFamily="34" charset="-120"/>
              </a:rPr>
              <a:t>Faustregel: </a:t>
            </a:r>
            <a:pPr indent="0" marL="0">
              <a:buNone/>
            </a:pPr>
            <a:r>
              <a:rPr lang="en-US" sz="1400" dirty="0">
                <a:solidFill>
                  <a:srgbClr val="13233A"/>
                </a:solidFill>
                <a:latin typeface="Calibri" pitchFamily="34" charset="0"/>
                <a:ea typeface="Calibri" pitchFamily="34" charset="-122"/>
                <a:cs typeface="Calibri" pitchFamily="34" charset="-120"/>
              </a:rPr>
              <a:t>Betroffen ist, wer viel mit grünen Versprechen wirbt oder Aussagen zu Gewährleistung, Haltbarkeit und Reparierbarkeit macht.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2 · ASSURANCE-GRAD</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Nachweispflicht statt Prüfpflicht</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RL (EU) 2024/825, ErwG 4 und 7 · WPK, „Neue Vorgaben für Umweltaussagen – weiteres Betätigungsfeld für den Berufsstand“ · IDW</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72768"/>
            <a:ext cx="3566160" cy="3017520"/>
          </a:xfrm>
          <a:prstGeom prst="roundRect">
            <a:avLst>
              <a:gd name="adj" fmla="val 3030"/>
            </a:avLst>
          </a:prstGeom>
          <a:solidFill>
            <a:srgbClr val="F3F5F7"/>
          </a:solidFill>
          <a:ln w="9525">
            <a:solidFill>
              <a:srgbClr val="F3F5F7"/>
            </a:solidFill>
            <a:prstDash val="solid"/>
          </a:ln>
        </p:spPr>
      </p:sp>
      <p:sp>
        <p:nvSpPr>
          <p:cNvPr id="7" name="Shape 5"/>
          <p:cNvSpPr/>
          <p:nvPr/>
        </p:nvSpPr>
        <p:spPr>
          <a:xfrm>
            <a:off x="777240" y="1801368"/>
            <a:ext cx="512064" cy="512064"/>
          </a:xfrm>
          <a:prstGeom prst="ellipse">
            <a:avLst/>
          </a:prstGeom>
          <a:solidFill>
            <a:srgbClr val="13233A"/>
          </a:solidFill>
          <a:ln w="6350">
            <a:solidFill>
              <a:srgbClr val="13233A"/>
            </a:solidFill>
            <a:prstDash val="solid"/>
          </a:ln>
        </p:spPr>
      </p:sp>
      <p:pic>
        <p:nvPicPr>
          <p:cNvPr id="8" name="Image 0" descr="preencoded.png">    </p:cNvPr>
          <p:cNvPicPr>
            <a:picLocks noChangeAspect="1"/>
          </p:cNvPicPr>
          <p:nvPr/>
        </p:nvPicPr>
        <p:blipFill>
          <a:blip r:embed="rId1"/>
          <a:stretch>
            <a:fillRect/>
          </a:stretch>
        </p:blipFill>
        <p:spPr>
          <a:xfrm>
            <a:off x="910377" y="1934505"/>
            <a:ext cx="245791" cy="245791"/>
          </a:xfrm>
          <a:prstGeom prst="rect">
            <a:avLst/>
          </a:prstGeom>
        </p:spPr>
      </p:pic>
      <p:sp>
        <p:nvSpPr>
          <p:cNvPr id="9" name="Text 6"/>
          <p:cNvSpPr txBox="1"/>
          <p:nvPr/>
        </p:nvSpPr>
        <p:spPr>
          <a:xfrm>
            <a:off x="1417320" y="1801368"/>
            <a:ext cx="2560320" cy="512064"/>
          </a:xfrm>
          <a:prstGeom prst="rect">
            <a:avLst/>
          </a:prstGeom>
          <a:noFill/>
          <a:ln/>
        </p:spPr>
        <p:txBody>
          <a:bodyPr wrap="square" lIns="0" tIns="0" rIns="0" bIns="0" rtlCol="0" anchor="ctr"/>
          <a:lstStyle/>
          <a:p>
            <a:pPr indent="0" marL="0">
              <a:buNone/>
            </a:pPr>
            <a:r>
              <a:rPr lang="en-US" sz="1200" b="1" spc="100" kern="0" dirty="0">
                <a:solidFill>
                  <a:srgbClr val="13233A"/>
                </a:solidFill>
                <a:latin typeface="Calibri" pitchFamily="34" charset="0"/>
                <a:ea typeface="Calibri" pitchFamily="34" charset="-122"/>
                <a:cs typeface="Calibri" pitchFamily="34" charset="-120"/>
              </a:rPr>
              <a:t>ALLE UMWELTAUSSAGEN</a:t>
            </a:r>
            <a:endParaRPr lang="en-US" sz="1200" dirty="0"/>
          </a:p>
        </p:txBody>
      </p:sp>
      <p:sp>
        <p:nvSpPr>
          <p:cNvPr id="10" name="Text 7"/>
          <p:cNvSpPr txBox="1"/>
          <p:nvPr/>
        </p:nvSpPr>
        <p:spPr>
          <a:xfrm>
            <a:off x="777240" y="2487168"/>
            <a:ext cx="3108960" cy="566928"/>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Keine Vorabprüfung</a:t>
            </a:r>
            <a:endParaRPr lang="en-US" sz="1600" dirty="0"/>
          </a:p>
        </p:txBody>
      </p:sp>
      <p:sp>
        <p:nvSpPr>
          <p:cNvPr id="11" name="Text 8"/>
          <p:cNvSpPr txBox="1"/>
          <p:nvPr/>
        </p:nvSpPr>
        <p:spPr>
          <a:xfrm>
            <a:off x="777240" y="3108960"/>
            <a:ext cx="3108960" cy="137160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Belege müssen jederzeit vorliegen. Eine Abmahnung kann jederzeit kommen, dann zählt, was dokumentiert ist.</a:t>
            </a:r>
            <a:endParaRPr lang="en-US" sz="1300" dirty="0"/>
          </a:p>
        </p:txBody>
      </p:sp>
      <p:sp>
        <p:nvSpPr>
          <p:cNvPr id="12" name="Shape 9"/>
          <p:cNvSpPr/>
          <p:nvPr/>
        </p:nvSpPr>
        <p:spPr>
          <a:xfrm>
            <a:off x="4311396" y="1572768"/>
            <a:ext cx="3566160" cy="3017520"/>
          </a:xfrm>
          <a:prstGeom prst="roundRect">
            <a:avLst>
              <a:gd name="adj" fmla="val 3030"/>
            </a:avLst>
          </a:prstGeom>
          <a:solidFill>
            <a:srgbClr val="F3F5F7"/>
          </a:solidFill>
          <a:ln w="9525">
            <a:solidFill>
              <a:srgbClr val="F3F5F7"/>
            </a:solidFill>
            <a:prstDash val="solid"/>
          </a:ln>
        </p:spPr>
      </p:sp>
      <p:sp>
        <p:nvSpPr>
          <p:cNvPr id="13" name="Shape 10"/>
          <p:cNvSpPr/>
          <p:nvPr/>
        </p:nvSpPr>
        <p:spPr>
          <a:xfrm>
            <a:off x="4539996" y="1801368"/>
            <a:ext cx="512064" cy="512064"/>
          </a:xfrm>
          <a:prstGeom prst="ellipse">
            <a:avLst/>
          </a:prstGeom>
          <a:solidFill>
            <a:srgbClr val="1F6F63"/>
          </a:solidFill>
          <a:ln w="6350">
            <a:solidFill>
              <a:srgbClr val="1F6F63"/>
            </a:solidFill>
            <a:prstDash val="solid"/>
          </a:ln>
        </p:spPr>
      </p:sp>
      <p:pic>
        <p:nvPicPr>
          <p:cNvPr id="14" name="Image 1" descr="preencoded.png">    </p:cNvPr>
          <p:cNvPicPr>
            <a:picLocks noChangeAspect="1"/>
          </p:cNvPicPr>
          <p:nvPr/>
        </p:nvPicPr>
        <p:blipFill>
          <a:blip r:embed="rId2"/>
          <a:stretch>
            <a:fillRect/>
          </a:stretch>
        </p:blipFill>
        <p:spPr>
          <a:xfrm>
            <a:off x="4673133" y="1934505"/>
            <a:ext cx="245791" cy="245791"/>
          </a:xfrm>
          <a:prstGeom prst="rect">
            <a:avLst/>
          </a:prstGeom>
        </p:spPr>
      </p:pic>
      <p:sp>
        <p:nvSpPr>
          <p:cNvPr id="15" name="Text 11"/>
          <p:cNvSpPr txBox="1"/>
          <p:nvPr/>
        </p:nvSpPr>
        <p:spPr>
          <a:xfrm>
            <a:off x="5180076" y="1801368"/>
            <a:ext cx="2560320" cy="512064"/>
          </a:xfrm>
          <a:prstGeom prst="rect">
            <a:avLst/>
          </a:prstGeom>
          <a:noFill/>
          <a:ln/>
        </p:spPr>
        <p:txBody>
          <a:bodyPr wrap="square" lIns="0" tIns="0" rIns="0" bIns="0" rtlCol="0" anchor="ctr"/>
          <a:lstStyle/>
          <a:p>
            <a:pPr indent="0" marL="0">
              <a:buNone/>
            </a:pPr>
            <a:r>
              <a:rPr lang="en-US" sz="1200" b="1" spc="100" kern="0" dirty="0">
                <a:solidFill>
                  <a:srgbClr val="1F6F63"/>
                </a:solidFill>
                <a:latin typeface="Calibri" pitchFamily="34" charset="0"/>
                <a:ea typeface="Calibri" pitchFamily="34" charset="-122"/>
                <a:cs typeface="Calibri" pitchFamily="34" charset="-120"/>
              </a:rPr>
              <a:t>NACHHALTIGKEITSSIEGEL</a:t>
            </a:r>
            <a:endParaRPr lang="en-US" sz="1200" dirty="0"/>
          </a:p>
        </p:txBody>
      </p:sp>
      <p:sp>
        <p:nvSpPr>
          <p:cNvPr id="16" name="Text 12"/>
          <p:cNvSpPr txBox="1"/>
          <p:nvPr/>
        </p:nvSpPr>
        <p:spPr>
          <a:xfrm>
            <a:off x="4539996" y="2487168"/>
            <a:ext cx="3108960" cy="566928"/>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Zertifizierung mit unabhängiger Überwachung</a:t>
            </a:r>
            <a:endParaRPr lang="en-US" sz="1600" dirty="0"/>
          </a:p>
        </p:txBody>
      </p:sp>
      <p:sp>
        <p:nvSpPr>
          <p:cNvPr id="17" name="Text 13"/>
          <p:cNvSpPr txBox="1"/>
          <p:nvPr/>
        </p:nvSpPr>
        <p:spPr>
          <a:xfrm>
            <a:off x="4539996" y="3108960"/>
            <a:ext cx="3108960" cy="137160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Nur auf Basis eines Zertifizierungssystems oder staatlich festgesetzt. Die Überwachung führt ein unabhängiger Dritter durch (ErwG 7).</a:t>
            </a:r>
            <a:endParaRPr lang="en-US" sz="1300" dirty="0"/>
          </a:p>
        </p:txBody>
      </p:sp>
      <p:sp>
        <p:nvSpPr>
          <p:cNvPr id="18" name="Shape 14"/>
          <p:cNvSpPr/>
          <p:nvPr/>
        </p:nvSpPr>
        <p:spPr>
          <a:xfrm>
            <a:off x="8074152" y="1572768"/>
            <a:ext cx="3566160" cy="3017520"/>
          </a:xfrm>
          <a:prstGeom prst="roundRect">
            <a:avLst>
              <a:gd name="adj" fmla="val 3030"/>
            </a:avLst>
          </a:prstGeom>
          <a:solidFill>
            <a:srgbClr val="F3F5F7"/>
          </a:solidFill>
          <a:ln w="9525">
            <a:solidFill>
              <a:srgbClr val="F3F5F7"/>
            </a:solidFill>
            <a:prstDash val="solid"/>
          </a:ln>
        </p:spPr>
      </p:sp>
      <p:sp>
        <p:nvSpPr>
          <p:cNvPr id="19" name="Shape 15"/>
          <p:cNvSpPr/>
          <p:nvPr/>
        </p:nvSpPr>
        <p:spPr>
          <a:xfrm>
            <a:off x="8302752" y="1801368"/>
            <a:ext cx="512064" cy="512064"/>
          </a:xfrm>
          <a:prstGeom prst="ellipse">
            <a:avLst/>
          </a:prstGeom>
          <a:solidFill>
            <a:srgbClr val="B04A16"/>
          </a:solidFill>
          <a:ln w="6350">
            <a:solidFill>
              <a:srgbClr val="B04A16"/>
            </a:solidFill>
            <a:prstDash val="solid"/>
          </a:ln>
        </p:spPr>
      </p:sp>
      <p:pic>
        <p:nvPicPr>
          <p:cNvPr id="20" name="Image 2" descr="preencoded.png">    </p:cNvPr>
          <p:cNvPicPr>
            <a:picLocks noChangeAspect="1"/>
          </p:cNvPicPr>
          <p:nvPr/>
        </p:nvPicPr>
        <p:blipFill>
          <a:blip r:embed="rId3"/>
          <a:stretch>
            <a:fillRect/>
          </a:stretch>
        </p:blipFill>
        <p:spPr>
          <a:xfrm>
            <a:off x="8435889" y="1934505"/>
            <a:ext cx="245791" cy="245791"/>
          </a:xfrm>
          <a:prstGeom prst="rect">
            <a:avLst/>
          </a:prstGeom>
        </p:spPr>
      </p:pic>
      <p:sp>
        <p:nvSpPr>
          <p:cNvPr id="21" name="Text 16"/>
          <p:cNvSpPr txBox="1"/>
          <p:nvPr/>
        </p:nvSpPr>
        <p:spPr>
          <a:xfrm>
            <a:off x="8942832" y="1801368"/>
            <a:ext cx="2560320" cy="512064"/>
          </a:xfrm>
          <a:prstGeom prst="rect">
            <a:avLst/>
          </a:prstGeom>
          <a:noFill/>
          <a:ln/>
        </p:spPr>
        <p:txBody>
          <a:bodyPr wrap="square" lIns="0" tIns="0" rIns="0" bIns="0" rtlCol="0" anchor="ctr"/>
          <a:lstStyle/>
          <a:p>
            <a:pPr indent="0" marL="0">
              <a:buNone/>
            </a:pPr>
            <a:r>
              <a:rPr lang="en-US" sz="1200" b="1" spc="100" kern="0" dirty="0">
                <a:solidFill>
                  <a:srgbClr val="B04A16"/>
                </a:solidFill>
                <a:latin typeface="Calibri" pitchFamily="34" charset="0"/>
                <a:ea typeface="Calibri" pitchFamily="34" charset="-122"/>
                <a:cs typeface="Calibri" pitchFamily="34" charset="-120"/>
              </a:rPr>
              <a:t>ZUKUNFTSAUSSAGEN</a:t>
            </a:r>
            <a:endParaRPr lang="en-US" sz="1200" dirty="0"/>
          </a:p>
        </p:txBody>
      </p:sp>
      <p:sp>
        <p:nvSpPr>
          <p:cNvPr id="22" name="Text 17"/>
          <p:cNvSpPr txBox="1"/>
          <p:nvPr/>
        </p:nvSpPr>
        <p:spPr>
          <a:xfrm>
            <a:off x="8302752" y="2487168"/>
            <a:ext cx="3108960" cy="566928"/>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Prüfung des Umsetzungsplans</a:t>
            </a:r>
            <a:endParaRPr lang="en-US" sz="1600" dirty="0"/>
          </a:p>
        </p:txBody>
      </p:sp>
      <p:sp>
        <p:nvSpPr>
          <p:cNvPr id="23" name="Text 18"/>
          <p:cNvSpPr txBox="1"/>
          <p:nvPr/>
        </p:nvSpPr>
        <p:spPr>
          <a:xfrm>
            <a:off x="8302752" y="3108960"/>
            <a:ext cx="3108960" cy="137160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Messbare, zeitgebundene Ziele und Ressourcen. Ein unabhängiger externer Sachverständiger prüft regelmäßig; die Ergebnisse gehen an die Verbraucher (ErwG 4).</a:t>
            </a:r>
            <a:endParaRPr lang="en-US" sz="1300" dirty="0"/>
          </a:p>
        </p:txBody>
      </p:sp>
      <p:sp>
        <p:nvSpPr>
          <p:cNvPr id="24" name="Shape 19"/>
          <p:cNvSpPr/>
          <p:nvPr/>
        </p:nvSpPr>
        <p:spPr>
          <a:xfrm>
            <a:off x="548640" y="4800600"/>
            <a:ext cx="11091672" cy="1325880"/>
          </a:xfrm>
          <a:prstGeom prst="roundRect">
            <a:avLst>
              <a:gd name="adj" fmla="val 6897"/>
            </a:avLst>
          </a:prstGeom>
          <a:solidFill>
            <a:srgbClr val="13233A"/>
          </a:solidFill>
          <a:ln w="9525">
            <a:solidFill>
              <a:srgbClr val="13233A"/>
            </a:solidFill>
            <a:prstDash val="solid"/>
          </a:ln>
        </p:spPr>
      </p:sp>
      <p:sp>
        <p:nvSpPr>
          <p:cNvPr id="25" name="Shape 20"/>
          <p:cNvSpPr/>
          <p:nvPr/>
        </p:nvSpPr>
        <p:spPr>
          <a:xfrm>
            <a:off x="822960" y="5120640"/>
            <a:ext cx="658368" cy="658368"/>
          </a:xfrm>
          <a:prstGeom prst="ellipse">
            <a:avLst/>
          </a:prstGeom>
          <a:solidFill>
            <a:srgbClr val="1B2E47"/>
          </a:solidFill>
          <a:ln w="6350">
            <a:solidFill>
              <a:srgbClr val="1B2E47"/>
            </a:solidFill>
            <a:prstDash val="solid"/>
          </a:ln>
        </p:spPr>
      </p:sp>
      <p:pic>
        <p:nvPicPr>
          <p:cNvPr id="26" name="Image 3" descr="preencoded.png">    </p:cNvPr>
          <p:cNvPicPr>
            <a:picLocks noChangeAspect="1"/>
          </p:cNvPicPr>
          <p:nvPr/>
        </p:nvPicPr>
        <p:blipFill>
          <a:blip r:embed="rId4"/>
          <a:stretch>
            <a:fillRect/>
          </a:stretch>
        </p:blipFill>
        <p:spPr>
          <a:xfrm>
            <a:off x="994136" y="5291816"/>
            <a:ext cx="316017" cy="316017"/>
          </a:xfrm>
          <a:prstGeom prst="rect">
            <a:avLst/>
          </a:prstGeom>
        </p:spPr>
      </p:pic>
      <p:sp>
        <p:nvSpPr>
          <p:cNvPr id="27" name="Text 21"/>
          <p:cNvSpPr txBox="1"/>
          <p:nvPr/>
        </p:nvSpPr>
        <p:spPr>
          <a:xfrm>
            <a:off x="1737360" y="4919472"/>
            <a:ext cx="9601200" cy="365760"/>
          </a:xfrm>
          <a:prstGeom prst="rect">
            <a:avLst/>
          </a:prstGeom>
          <a:noFill/>
          <a:ln/>
        </p:spPr>
        <p:txBody>
          <a:bodyPr wrap="square" lIns="0" tIns="0" rIns="0" bIns="0" rtlCol="0" anchor="ctr"/>
          <a:lstStyle/>
          <a:p>
            <a:pPr indent="0" marL="0">
              <a:buNone/>
            </a:pPr>
            <a:r>
              <a:rPr lang="en-US" sz="1500" b="1" dirty="0">
                <a:solidFill>
                  <a:srgbClr val="F2A65A"/>
                </a:solidFill>
                <a:latin typeface="Calibri" pitchFamily="34" charset="0"/>
                <a:ea typeface="Calibri" pitchFamily="34" charset="-122"/>
                <a:cs typeface="Calibri" pitchFamily="34" charset="-120"/>
              </a:rPr>
              <a:t>Für den Berufsstand</a:t>
            </a:r>
            <a:endParaRPr lang="en-US" sz="1500" dirty="0"/>
          </a:p>
        </p:txBody>
      </p:sp>
      <p:sp>
        <p:nvSpPr>
          <p:cNvPr id="28" name="Text 22"/>
          <p:cNvSpPr txBox="1"/>
          <p:nvPr/>
        </p:nvSpPr>
        <p:spPr>
          <a:xfrm>
            <a:off x="1737360" y="5303520"/>
            <a:ext cx="969264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Laut Gesetzesbegründung kommen Wirtschaftsprüfer als sachkundige Sachverständige in Betracht (WPK). Das IDW hat Mustervermerke zur Prüfung von Umsetzungsplänen veröffentlicht und warnt zugleich vor Rechtsunsicherheit.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3 · MANAGEMENTSYSTEM</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Sechs Stolpersteine bei der Einbindung</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PwC, Blog „Umweltbezogene Angaben … 2026“ und „Green Claims: Stresstest für die Governance?“ · Rödl &amp; Partner, „EmpCo: neue Regelungen für Umweltaussagen“</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27632"/>
            <a:ext cx="457200" cy="457200"/>
          </a:xfrm>
          <a:prstGeom prst="ellipse">
            <a:avLst/>
          </a:prstGeom>
          <a:solidFill>
            <a:srgbClr val="1F6F63"/>
          </a:solidFill>
          <a:ln w="6350">
            <a:solidFill>
              <a:srgbClr val="1F6F63"/>
            </a:solidFill>
            <a:prstDash val="solid"/>
          </a:ln>
        </p:spPr>
      </p:sp>
      <p:pic>
        <p:nvPicPr>
          <p:cNvPr id="7" name="Image 0" descr="preencoded.png">    </p:cNvPr>
          <p:cNvPicPr>
            <a:picLocks noChangeAspect="1"/>
          </p:cNvPicPr>
          <p:nvPr/>
        </p:nvPicPr>
        <p:blipFill>
          <a:blip r:embed="rId1"/>
          <a:stretch>
            <a:fillRect/>
          </a:stretch>
        </p:blipFill>
        <p:spPr>
          <a:xfrm>
            <a:off x="667512" y="1746504"/>
            <a:ext cx="219456" cy="219456"/>
          </a:xfrm>
          <a:prstGeom prst="rect">
            <a:avLst/>
          </a:prstGeom>
        </p:spPr>
      </p:pic>
      <p:sp>
        <p:nvSpPr>
          <p:cNvPr id="8" name="Text 5"/>
          <p:cNvSpPr txBox="1"/>
          <p:nvPr/>
        </p:nvSpPr>
        <p:spPr>
          <a:xfrm>
            <a:off x="1188720" y="1572768"/>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IT-Änderungen</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Gegebenenfalls sind ausgeprägte Anpassungen an den Systemen nötig (PwC).</a:t>
            </a:r>
            <a:endParaRPr lang="en-US" sz="1500" dirty="0"/>
          </a:p>
        </p:txBody>
      </p:sp>
      <p:sp>
        <p:nvSpPr>
          <p:cNvPr id="9" name="Shape 6"/>
          <p:cNvSpPr/>
          <p:nvPr/>
        </p:nvSpPr>
        <p:spPr>
          <a:xfrm>
            <a:off x="548640" y="2350008"/>
            <a:ext cx="457200" cy="457200"/>
          </a:xfrm>
          <a:prstGeom prst="ellipse">
            <a:avLst/>
          </a:prstGeom>
          <a:solidFill>
            <a:srgbClr val="1F6F63"/>
          </a:solidFill>
          <a:ln w="6350">
            <a:solidFill>
              <a:srgbClr val="1F6F63"/>
            </a:solidFill>
            <a:prstDash val="solid"/>
          </a:ln>
        </p:spPr>
      </p:sp>
      <p:pic>
        <p:nvPicPr>
          <p:cNvPr id="10" name="Image 1" descr="preencoded.png">    </p:cNvPr>
          <p:cNvPicPr>
            <a:picLocks noChangeAspect="1"/>
          </p:cNvPicPr>
          <p:nvPr/>
        </p:nvPicPr>
        <p:blipFill>
          <a:blip r:embed="rId2"/>
          <a:stretch>
            <a:fillRect/>
          </a:stretch>
        </p:blipFill>
        <p:spPr>
          <a:xfrm>
            <a:off x="667512" y="2468880"/>
            <a:ext cx="219456" cy="219456"/>
          </a:xfrm>
          <a:prstGeom prst="rect">
            <a:avLst/>
          </a:prstGeom>
        </p:spPr>
      </p:pic>
      <p:sp>
        <p:nvSpPr>
          <p:cNvPr id="11" name="Text 7"/>
          <p:cNvSpPr txBox="1"/>
          <p:nvPr/>
        </p:nvSpPr>
        <p:spPr>
          <a:xfrm>
            <a:off x="1188720" y="2295144"/>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Externe Belege und Verträge</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Aussagen aus Verträgen zählen mit; oft fehlen Primärinformationen (Rödl).</a:t>
            </a:r>
            <a:endParaRPr lang="en-US" sz="1500" dirty="0"/>
          </a:p>
        </p:txBody>
      </p:sp>
      <p:sp>
        <p:nvSpPr>
          <p:cNvPr id="12" name="Shape 8"/>
          <p:cNvSpPr/>
          <p:nvPr/>
        </p:nvSpPr>
        <p:spPr>
          <a:xfrm>
            <a:off x="548640" y="3072384"/>
            <a:ext cx="457200" cy="457200"/>
          </a:xfrm>
          <a:prstGeom prst="ellipse">
            <a:avLst/>
          </a:prstGeom>
          <a:solidFill>
            <a:srgbClr val="1F6F63"/>
          </a:solidFill>
          <a:ln w="6350">
            <a:solidFill>
              <a:srgbClr val="1F6F63"/>
            </a:solidFill>
            <a:prstDash val="solid"/>
          </a:ln>
        </p:spPr>
      </p:sp>
      <p:pic>
        <p:nvPicPr>
          <p:cNvPr id="13" name="Image 2" descr="preencoded.png">    </p:cNvPr>
          <p:cNvPicPr>
            <a:picLocks noChangeAspect="1"/>
          </p:cNvPicPr>
          <p:nvPr/>
        </p:nvPicPr>
        <p:blipFill>
          <a:blip r:embed="rId3"/>
          <a:stretch>
            <a:fillRect/>
          </a:stretch>
        </p:blipFill>
        <p:spPr>
          <a:xfrm>
            <a:off x="667512" y="3191256"/>
            <a:ext cx="219456" cy="219456"/>
          </a:xfrm>
          <a:prstGeom prst="rect">
            <a:avLst/>
          </a:prstGeom>
        </p:spPr>
      </p:pic>
      <p:sp>
        <p:nvSpPr>
          <p:cNvPr id="14" name="Text 9"/>
          <p:cNvSpPr txBox="1"/>
          <p:nvPr/>
        </p:nvSpPr>
        <p:spPr>
          <a:xfrm>
            <a:off x="1188720" y="3017520"/>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Viele Abteilungen</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Menge der Claims und Kanäle treibt den Aufwand; Hauptentstehungsort ist das Marketing.</a:t>
            </a:r>
            <a:endParaRPr lang="en-US" sz="1500" dirty="0"/>
          </a:p>
        </p:txBody>
      </p:sp>
      <p:sp>
        <p:nvSpPr>
          <p:cNvPr id="15" name="Shape 10"/>
          <p:cNvSpPr/>
          <p:nvPr/>
        </p:nvSpPr>
        <p:spPr>
          <a:xfrm>
            <a:off x="548640" y="3794760"/>
            <a:ext cx="457200" cy="457200"/>
          </a:xfrm>
          <a:prstGeom prst="ellipse">
            <a:avLst/>
          </a:prstGeom>
          <a:solidFill>
            <a:srgbClr val="1F6F63"/>
          </a:solidFill>
          <a:ln w="6350">
            <a:solidFill>
              <a:srgbClr val="1F6F63"/>
            </a:solidFill>
            <a:prstDash val="solid"/>
          </a:ln>
        </p:spPr>
      </p:sp>
      <p:pic>
        <p:nvPicPr>
          <p:cNvPr id="16" name="Image 3" descr="preencoded.png">    </p:cNvPr>
          <p:cNvPicPr>
            <a:picLocks noChangeAspect="1"/>
          </p:cNvPicPr>
          <p:nvPr/>
        </p:nvPicPr>
        <p:blipFill>
          <a:blip r:embed="rId4"/>
          <a:stretch>
            <a:fillRect/>
          </a:stretch>
        </p:blipFill>
        <p:spPr>
          <a:xfrm>
            <a:off x="667512" y="3913632"/>
            <a:ext cx="219456" cy="219456"/>
          </a:xfrm>
          <a:prstGeom prst="rect">
            <a:avLst/>
          </a:prstGeom>
        </p:spPr>
      </p:pic>
      <p:sp>
        <p:nvSpPr>
          <p:cNvPr id="17" name="Text 11"/>
          <p:cNvSpPr txBox="1"/>
          <p:nvPr/>
        </p:nvSpPr>
        <p:spPr>
          <a:xfrm>
            <a:off x="1188720" y="3739896"/>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Querschnittsthema</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Berührt Marke, Risikomanagement, Compliance und Nachhaltigkeitsstrategie (PwC).</a:t>
            </a:r>
            <a:endParaRPr lang="en-US" sz="1500" dirty="0"/>
          </a:p>
        </p:txBody>
      </p:sp>
      <p:sp>
        <p:nvSpPr>
          <p:cNvPr id="18" name="Shape 12"/>
          <p:cNvSpPr/>
          <p:nvPr/>
        </p:nvSpPr>
        <p:spPr>
          <a:xfrm>
            <a:off x="548640" y="4517136"/>
            <a:ext cx="457200" cy="457200"/>
          </a:xfrm>
          <a:prstGeom prst="ellipse">
            <a:avLst/>
          </a:prstGeom>
          <a:solidFill>
            <a:srgbClr val="1F6F63"/>
          </a:solidFill>
          <a:ln w="6350">
            <a:solidFill>
              <a:srgbClr val="1F6F63"/>
            </a:solidFill>
            <a:prstDash val="solid"/>
          </a:ln>
        </p:spPr>
      </p:sp>
      <p:pic>
        <p:nvPicPr>
          <p:cNvPr id="19" name="Image 4" descr="preencoded.png">    </p:cNvPr>
          <p:cNvPicPr>
            <a:picLocks noChangeAspect="1"/>
          </p:cNvPicPr>
          <p:nvPr/>
        </p:nvPicPr>
        <p:blipFill>
          <a:blip r:embed="rId5"/>
          <a:stretch>
            <a:fillRect/>
          </a:stretch>
        </p:blipFill>
        <p:spPr>
          <a:xfrm>
            <a:off x="667512" y="4636008"/>
            <a:ext cx="219456" cy="219456"/>
          </a:xfrm>
          <a:prstGeom prst="rect">
            <a:avLst/>
          </a:prstGeom>
        </p:spPr>
      </p:pic>
      <p:sp>
        <p:nvSpPr>
          <p:cNvPr id="20" name="Text 13"/>
          <p:cNvSpPr txBox="1"/>
          <p:nvPr/>
        </p:nvSpPr>
        <p:spPr>
          <a:xfrm>
            <a:off x="1188720" y="4462272"/>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Dauerhaftes Monitoring</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Neue Claims kommen laufend hinzu. Offen ist die Abgrenzung zur internen Revision.</a:t>
            </a:r>
            <a:endParaRPr lang="en-US" sz="1500" dirty="0"/>
          </a:p>
        </p:txBody>
      </p:sp>
      <p:sp>
        <p:nvSpPr>
          <p:cNvPr id="21" name="Shape 14"/>
          <p:cNvSpPr/>
          <p:nvPr/>
        </p:nvSpPr>
        <p:spPr>
          <a:xfrm>
            <a:off x="548640" y="5239512"/>
            <a:ext cx="457200" cy="457200"/>
          </a:xfrm>
          <a:prstGeom prst="ellipse">
            <a:avLst/>
          </a:prstGeom>
          <a:solidFill>
            <a:srgbClr val="1F6F63"/>
          </a:solidFill>
          <a:ln w="6350">
            <a:solidFill>
              <a:srgbClr val="1F6F63"/>
            </a:solidFill>
            <a:prstDash val="solid"/>
          </a:ln>
        </p:spPr>
      </p:sp>
      <p:pic>
        <p:nvPicPr>
          <p:cNvPr id="22" name="Image 5" descr="preencoded.png">    </p:cNvPr>
          <p:cNvPicPr>
            <a:picLocks noChangeAspect="1"/>
          </p:cNvPicPr>
          <p:nvPr/>
        </p:nvPicPr>
        <p:blipFill>
          <a:blip r:embed="rId6"/>
          <a:stretch>
            <a:fillRect/>
          </a:stretch>
        </p:blipFill>
        <p:spPr>
          <a:xfrm>
            <a:off x="667512" y="5358384"/>
            <a:ext cx="219456" cy="219456"/>
          </a:xfrm>
          <a:prstGeom prst="rect">
            <a:avLst/>
          </a:prstGeom>
        </p:spPr>
      </p:pic>
      <p:sp>
        <p:nvSpPr>
          <p:cNvPr id="23" name="Text 15"/>
          <p:cNvSpPr txBox="1"/>
          <p:nvPr/>
        </p:nvSpPr>
        <p:spPr>
          <a:xfrm>
            <a:off x="1188720" y="5184648"/>
            <a:ext cx="6720840" cy="658368"/>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Nationale Umsetzung</a:t>
            </a:r>
            <a:endParaRPr lang="en-US" sz="1500" dirty="0"/>
          </a:p>
          <a:p>
            <a:pPr indent="0" marL="0">
              <a:buNone/>
            </a:pPr>
            <a:r>
              <a:rPr lang="en-US" sz="1300" dirty="0">
                <a:solidFill>
                  <a:srgbClr val="4A5A6C"/>
                </a:solidFill>
                <a:latin typeface="Calibri" pitchFamily="34" charset="0"/>
                <a:ea typeface="Calibri" pitchFamily="34" charset="-122"/>
                <a:cs typeface="Calibri" pitchFamily="34" charset="-120"/>
              </a:rPr>
              <a:t>Die Regeln sind national umgesetzt; das System muss Unterschiede zwischen Ländern abbilden.</a:t>
            </a:r>
            <a:endParaRPr lang="en-US" sz="1500" dirty="0"/>
          </a:p>
        </p:txBody>
      </p:sp>
      <p:sp>
        <p:nvSpPr>
          <p:cNvPr id="24" name="Shape 16"/>
          <p:cNvSpPr/>
          <p:nvPr/>
        </p:nvSpPr>
        <p:spPr>
          <a:xfrm>
            <a:off x="8092440" y="1572768"/>
            <a:ext cx="3547872" cy="2788920"/>
          </a:xfrm>
          <a:prstGeom prst="roundRect">
            <a:avLst>
              <a:gd name="adj" fmla="val 3279"/>
            </a:avLst>
          </a:prstGeom>
          <a:solidFill>
            <a:srgbClr val="13233A"/>
          </a:solidFill>
          <a:ln w="9525">
            <a:solidFill>
              <a:srgbClr val="13233A"/>
            </a:solidFill>
            <a:prstDash val="solid"/>
          </a:ln>
        </p:spPr>
      </p:sp>
      <p:pic>
        <p:nvPicPr>
          <p:cNvPr id="25" name="Image 6" descr="preencoded.png">    </p:cNvPr>
          <p:cNvPicPr>
            <a:picLocks noChangeAspect="1"/>
          </p:cNvPicPr>
          <p:nvPr/>
        </p:nvPicPr>
        <p:blipFill>
          <a:blip r:embed="rId7"/>
          <a:stretch>
            <a:fillRect/>
          </a:stretch>
        </p:blipFill>
        <p:spPr>
          <a:xfrm>
            <a:off x="8366760" y="1810512"/>
            <a:ext cx="329184" cy="329184"/>
          </a:xfrm>
          <a:prstGeom prst="rect">
            <a:avLst/>
          </a:prstGeom>
        </p:spPr>
      </p:pic>
      <p:sp>
        <p:nvSpPr>
          <p:cNvPr id="26" name="Text 17"/>
          <p:cNvSpPr txBox="1"/>
          <p:nvPr/>
        </p:nvSpPr>
        <p:spPr>
          <a:xfrm>
            <a:off x="8366760" y="2240280"/>
            <a:ext cx="3017520" cy="169164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„Es braucht einen klaren Schulterschluss: Recht und Compliance, Marketing und Kommunikation, Produktentwicklung, Vertrieb, Sustainability-/Reporting-Teams und Länderverantwortliche müssen zusammenarbeiten.“</a:t>
            </a:r>
            <a:endParaRPr lang="en-US" sz="1300" dirty="0"/>
          </a:p>
        </p:txBody>
      </p:sp>
      <p:sp>
        <p:nvSpPr>
          <p:cNvPr id="27" name="Text 18"/>
          <p:cNvSpPr txBox="1"/>
          <p:nvPr/>
        </p:nvSpPr>
        <p:spPr>
          <a:xfrm>
            <a:off x="8366760" y="3959352"/>
            <a:ext cx="3017520" cy="274320"/>
          </a:xfrm>
          <a:prstGeom prst="rect">
            <a:avLst/>
          </a:prstGeom>
          <a:noFill/>
          <a:ln/>
        </p:spPr>
        <p:txBody>
          <a:bodyPr wrap="square" lIns="0" tIns="0" rIns="0" bIns="0" rtlCol="0" anchor="ctr"/>
          <a:lstStyle/>
          <a:p>
            <a:pPr indent="0" marL="0">
              <a:buNone/>
            </a:pPr>
            <a:r>
              <a:rPr lang="en-US" sz="1100" dirty="0">
                <a:solidFill>
                  <a:srgbClr val="C9D6E3"/>
                </a:solidFill>
                <a:latin typeface="Calibri" pitchFamily="34" charset="0"/>
                <a:ea typeface="Calibri" pitchFamily="34" charset="-122"/>
                <a:cs typeface="Calibri" pitchFamily="34" charset="-120"/>
              </a:rPr>
              <a:t>Dr. Anna-Kristine Wipper, PwC</a:t>
            </a:r>
            <a:endParaRPr lang="en-US" sz="1100" dirty="0"/>
          </a:p>
        </p:txBody>
      </p:sp>
      <p:sp>
        <p:nvSpPr>
          <p:cNvPr id="28" name="Shape 19"/>
          <p:cNvSpPr/>
          <p:nvPr/>
        </p:nvSpPr>
        <p:spPr>
          <a:xfrm>
            <a:off x="8092440" y="4544568"/>
            <a:ext cx="3547872" cy="1572768"/>
          </a:xfrm>
          <a:prstGeom prst="roundRect">
            <a:avLst>
              <a:gd name="adj" fmla="val 5814"/>
            </a:avLst>
          </a:prstGeom>
          <a:solidFill>
            <a:srgbClr val="FBEEE4"/>
          </a:solidFill>
          <a:ln w="9525">
            <a:solidFill>
              <a:srgbClr val="FBEEE4"/>
            </a:solidFill>
            <a:prstDash val="solid"/>
          </a:ln>
        </p:spPr>
      </p:sp>
      <p:sp>
        <p:nvSpPr>
          <p:cNvPr id="29" name="Text 20"/>
          <p:cNvSpPr txBox="1"/>
          <p:nvPr/>
        </p:nvSpPr>
        <p:spPr>
          <a:xfrm>
            <a:off x="8366760" y="4663440"/>
            <a:ext cx="3017520" cy="320040"/>
          </a:xfrm>
          <a:prstGeom prst="rect">
            <a:avLst/>
          </a:prstGeom>
          <a:noFill/>
          <a:ln/>
        </p:spPr>
        <p:txBody>
          <a:bodyPr wrap="square" lIns="0" tIns="0" rIns="0" bIns="0" rtlCol="0" anchor="ctr"/>
          <a:lstStyle/>
          <a:p>
            <a:pPr indent="0" marL="0">
              <a:buNone/>
            </a:pPr>
            <a:r>
              <a:rPr lang="en-US" sz="1500" b="1" dirty="0">
                <a:solidFill>
                  <a:srgbClr val="B04A16"/>
                </a:solidFill>
                <a:latin typeface="Calibri" pitchFamily="34" charset="0"/>
                <a:ea typeface="Calibri" pitchFamily="34" charset="-122"/>
                <a:cs typeface="Calibri" pitchFamily="34" charset="-120"/>
              </a:rPr>
              <a:t>Entscheidend</a:t>
            </a:r>
            <a:endParaRPr lang="en-US" sz="1500" dirty="0"/>
          </a:p>
        </p:txBody>
      </p:sp>
      <p:sp>
        <p:nvSpPr>
          <p:cNvPr id="30" name="Text 21"/>
          <p:cNvSpPr txBox="1"/>
          <p:nvPr/>
        </p:nvSpPr>
        <p:spPr>
          <a:xfrm>
            <a:off x="8366760" y="5010912"/>
            <a:ext cx="3017520" cy="1005840"/>
          </a:xfrm>
          <a:prstGeom prst="rect">
            <a:avLst/>
          </a:prstGeom>
          <a:noFill/>
          <a:ln/>
        </p:spPr>
        <p:txBody>
          <a:bodyPr wrap="square" lIns="0" tIns="0" rIns="0" bIns="0" rtlCol="0" anchor="t"/>
          <a:lstStyle/>
          <a:p>
            <a:pPr indent="0" marL="0">
              <a:buNone/>
            </a:pPr>
            <a:r>
              <a:rPr lang="en-US" sz="1400" dirty="0">
                <a:solidFill>
                  <a:srgbClr val="13233A"/>
                </a:solidFill>
                <a:latin typeface="Calibri" pitchFamily="34" charset="0"/>
                <a:ea typeface="Calibri" pitchFamily="34" charset="-122"/>
                <a:cs typeface="Calibri" pitchFamily="34" charset="-120"/>
              </a:rPr>
              <a:t>Der Reifegrad der bestehenden Systeme und wie stark sie im Unternehmen gelebt werden.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4 · SICHT ANDERER HÄUSER</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Chancen sehen wenige, die meisten steuern Risiken</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Veröffentlichungen der genannten Häuser, Links auf Folie 14</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572768"/>
            <a:ext cx="5440680" cy="3611880"/>
          </a:xfrm>
          <a:prstGeom prst="roundRect">
            <a:avLst>
              <a:gd name="adj" fmla="val 2532"/>
            </a:avLst>
          </a:prstGeom>
          <a:solidFill>
            <a:srgbClr val="E4F1EE"/>
          </a:solidFill>
          <a:ln w="9525">
            <a:solidFill>
              <a:srgbClr val="E4F1EE"/>
            </a:solidFill>
            <a:prstDash val="solid"/>
          </a:ln>
        </p:spPr>
      </p:sp>
      <p:sp>
        <p:nvSpPr>
          <p:cNvPr id="7" name="Shape 5"/>
          <p:cNvSpPr/>
          <p:nvPr/>
        </p:nvSpPr>
        <p:spPr>
          <a:xfrm>
            <a:off x="777240" y="1773936"/>
            <a:ext cx="457200" cy="457200"/>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896112" y="1892808"/>
            <a:ext cx="219456" cy="219456"/>
          </a:xfrm>
          <a:prstGeom prst="rect">
            <a:avLst/>
          </a:prstGeom>
        </p:spPr>
      </p:pic>
      <p:sp>
        <p:nvSpPr>
          <p:cNvPr id="9" name="Text 6"/>
          <p:cNvSpPr txBox="1"/>
          <p:nvPr/>
        </p:nvSpPr>
        <p:spPr>
          <a:xfrm>
            <a:off x="1371600" y="1773936"/>
            <a:ext cx="4434840" cy="457200"/>
          </a:xfrm>
          <a:prstGeom prst="rect">
            <a:avLst/>
          </a:prstGeom>
          <a:noFill/>
          <a:ln/>
        </p:spPr>
        <p:txBody>
          <a:bodyPr wrap="square" lIns="0" tIns="0" rIns="0" bIns="0" rtlCol="0" anchor="ctr"/>
          <a:lstStyle/>
          <a:p>
            <a:pPr indent="0" marL="0">
              <a:buNone/>
            </a:pPr>
            <a:r>
              <a:rPr lang="en-US" sz="1700" b="1" dirty="0">
                <a:solidFill>
                  <a:srgbClr val="1F6F63"/>
                </a:solidFill>
                <a:latin typeface="Calibri" pitchFamily="34" charset="0"/>
                <a:ea typeface="Calibri" pitchFamily="34" charset="-122"/>
                <a:cs typeface="Calibri" pitchFamily="34" charset="-120"/>
              </a:rPr>
              <a:t>Chancen-Narrativ</a:t>
            </a:r>
            <a:endParaRPr lang="en-US" sz="1700" dirty="0"/>
          </a:p>
        </p:txBody>
      </p:sp>
      <p:sp>
        <p:nvSpPr>
          <p:cNvPr id="10" name="Text 7"/>
          <p:cNvSpPr txBox="1"/>
          <p:nvPr/>
        </p:nvSpPr>
        <p:spPr>
          <a:xfrm>
            <a:off x="777240" y="2395728"/>
            <a:ext cx="4983480" cy="2651760"/>
          </a:xfrm>
          <a:prstGeom prst="rect">
            <a:avLst/>
          </a:prstGeom>
          <a:noFill/>
          <a:ln/>
        </p:spPr>
        <p:txBody>
          <a:bodyPr wrap="square" lIns="0" tIns="0" rIns="0" bIns="0" rtlCol="0" anchor="t"/>
          <a:lstStyle/>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KPMG: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Treiber für Innovation und neue Modelle wie Leasing oder Sharing; Differenzierung über Lebenszyklus, längere Nutzung und ernsthaftere Kommunikation.</a:t>
            </a:r>
            <a:endParaRPr lang="en-US" sz="1300" dirty="0"/>
          </a:p>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Simon-Kucher: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Belegbare Nachhaltigkeitsleistung als Differenzierung und Grundlage glaubhafter Kommunikation (Verpackungsindustrie).</a:t>
            </a:r>
            <a:endParaRPr lang="en-US" sz="1300" dirty="0"/>
          </a:p>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EY Österreich: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Glaubwürdigkeit als Wettbewerbsvorteil; neben Prozessen auch Kennzahlen, Analysen der Wertschöpfungskette und rechtliche Einordnung.</a:t>
            </a:r>
            <a:endParaRPr lang="en-US" sz="1300" dirty="0"/>
          </a:p>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PwC: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Unternehmen müssen entscheiden, welche Umweltleistungen sie tatsächlich erbringen wollen.</a:t>
            </a:r>
            <a:endParaRPr lang="en-US" sz="1300" dirty="0"/>
          </a:p>
        </p:txBody>
      </p:sp>
      <p:sp>
        <p:nvSpPr>
          <p:cNvPr id="11" name="Shape 8"/>
          <p:cNvSpPr/>
          <p:nvPr/>
        </p:nvSpPr>
        <p:spPr>
          <a:xfrm>
            <a:off x="6199632" y="1572768"/>
            <a:ext cx="5440680" cy="3611880"/>
          </a:xfrm>
          <a:prstGeom prst="roundRect">
            <a:avLst>
              <a:gd name="adj" fmla="val 2532"/>
            </a:avLst>
          </a:prstGeom>
          <a:solidFill>
            <a:srgbClr val="FBEEE4"/>
          </a:solidFill>
          <a:ln w="9525">
            <a:solidFill>
              <a:srgbClr val="FBEEE4"/>
            </a:solidFill>
            <a:prstDash val="solid"/>
          </a:ln>
        </p:spPr>
      </p:sp>
      <p:sp>
        <p:nvSpPr>
          <p:cNvPr id="12" name="Shape 9"/>
          <p:cNvSpPr/>
          <p:nvPr/>
        </p:nvSpPr>
        <p:spPr>
          <a:xfrm>
            <a:off x="6428232" y="1773936"/>
            <a:ext cx="457200" cy="457200"/>
          </a:xfrm>
          <a:prstGeom prst="ellipse">
            <a:avLst/>
          </a:prstGeom>
          <a:solidFill>
            <a:srgbClr val="B04A16"/>
          </a:solidFill>
          <a:ln w="6350">
            <a:solidFill>
              <a:srgbClr val="B04A16"/>
            </a:solidFill>
            <a:prstDash val="solid"/>
          </a:ln>
        </p:spPr>
      </p:sp>
      <p:pic>
        <p:nvPicPr>
          <p:cNvPr id="13" name="Image 1" descr="preencoded.png">    </p:cNvPr>
          <p:cNvPicPr>
            <a:picLocks noChangeAspect="1"/>
          </p:cNvPicPr>
          <p:nvPr/>
        </p:nvPicPr>
        <p:blipFill>
          <a:blip r:embed="rId2"/>
          <a:stretch>
            <a:fillRect/>
          </a:stretch>
        </p:blipFill>
        <p:spPr>
          <a:xfrm>
            <a:off x="6547104" y="1892808"/>
            <a:ext cx="219456" cy="219456"/>
          </a:xfrm>
          <a:prstGeom prst="rect">
            <a:avLst/>
          </a:prstGeom>
        </p:spPr>
      </p:pic>
      <p:sp>
        <p:nvSpPr>
          <p:cNvPr id="14" name="Text 10"/>
          <p:cNvSpPr txBox="1"/>
          <p:nvPr/>
        </p:nvSpPr>
        <p:spPr>
          <a:xfrm>
            <a:off x="7022592" y="1773936"/>
            <a:ext cx="4434840" cy="457200"/>
          </a:xfrm>
          <a:prstGeom prst="rect">
            <a:avLst/>
          </a:prstGeom>
          <a:noFill/>
          <a:ln/>
        </p:spPr>
        <p:txBody>
          <a:bodyPr wrap="square" lIns="0" tIns="0" rIns="0" bIns="0" rtlCol="0" anchor="ctr"/>
          <a:lstStyle/>
          <a:p>
            <a:pPr indent="0" marL="0">
              <a:buNone/>
            </a:pPr>
            <a:r>
              <a:rPr lang="en-US" sz="1700" b="1" dirty="0">
                <a:solidFill>
                  <a:srgbClr val="B04A16"/>
                </a:solidFill>
                <a:latin typeface="Calibri" pitchFamily="34" charset="0"/>
                <a:ea typeface="Calibri" pitchFamily="34" charset="-122"/>
                <a:cs typeface="Calibri" pitchFamily="34" charset="-120"/>
              </a:rPr>
              <a:t>Risiko- und Compliance-Fokus</a:t>
            </a:r>
            <a:endParaRPr lang="en-US" sz="1700" dirty="0"/>
          </a:p>
        </p:txBody>
      </p:sp>
      <p:sp>
        <p:nvSpPr>
          <p:cNvPr id="15" name="Text 11"/>
          <p:cNvSpPr txBox="1"/>
          <p:nvPr/>
        </p:nvSpPr>
        <p:spPr>
          <a:xfrm>
            <a:off x="6428232" y="2395728"/>
            <a:ext cx="4983480" cy="2651760"/>
          </a:xfrm>
          <a:prstGeom prst="rect">
            <a:avLst/>
          </a:prstGeom>
          <a:noFill/>
          <a:ln/>
        </p:spPr>
        <p:txBody>
          <a:bodyPr wrap="square" lIns="0" tIns="0" rIns="0" bIns="0" rtlCol="0" anchor="t"/>
          <a:lstStyle/>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Deloitte Österreich: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Kostenloser Greenwashing-Quick-Check; „etablierte Kontrollen“: Der Aufbau des IKS reduziert das Greenwashing-Risiko.</a:t>
            </a:r>
            <a:endParaRPr lang="en-US" sz="1300" dirty="0"/>
          </a:p>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Rödl &amp; Partner: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Fokus auf aktiver Risikosteuerung; Rat zur kritischen Umsetzung der Nachhaltigkeitsziele.</a:t>
            </a:r>
            <a:endParaRPr lang="en-US" sz="1300" dirty="0"/>
          </a:p>
          <a:p>
            <a:pPr indent="0" marL="0">
              <a:spcAft>
                <a:spcPts val="900"/>
              </a:spcAft>
              <a:buNone/>
            </a:pPr>
            <a:r>
              <a:rPr lang="en-US" sz="1300" b="1" dirty="0">
                <a:solidFill>
                  <a:srgbClr val="13233A"/>
                </a:solidFill>
                <a:latin typeface="Calibri" pitchFamily="34" charset="0"/>
                <a:ea typeface="Calibri" pitchFamily="34" charset="-122"/>
                <a:cs typeface="Calibri" pitchFamily="34" charset="-120"/>
              </a:rPr>
              <a:t>Grant Thornton Österreich: </a:t>
            </a:r>
            <a:pPr indent="0" marL="0">
              <a:spcAft>
                <a:spcPts val="900"/>
              </a:spcAft>
              <a:buNone/>
            </a:pPr>
            <a:r>
              <a:rPr lang="en-US" sz="1300" dirty="0">
                <a:solidFill>
                  <a:srgbClr val="4A5A6C"/>
                </a:solidFill>
                <a:latin typeface="Calibri" pitchFamily="34" charset="0"/>
                <a:ea typeface="Calibri" pitchFamily="34" charset="-122"/>
                <a:cs typeface="Calibri" pitchFamily="34" charset="-120"/>
              </a:rPr>
              <a:t>Stärkung bestehender Compliance-Prozesse statt Neuschaffung; KI-Schnellcheck.</a:t>
            </a:r>
            <a:endParaRPr lang="en-US" sz="1300" dirty="0"/>
          </a:p>
        </p:txBody>
      </p:sp>
      <p:sp>
        <p:nvSpPr>
          <p:cNvPr id="16" name="Text 12"/>
          <p:cNvSpPr txBox="1"/>
          <p:nvPr/>
        </p:nvSpPr>
        <p:spPr>
          <a:xfrm>
            <a:off x="6428232" y="4407408"/>
            <a:ext cx="4983480" cy="548640"/>
          </a:xfrm>
          <a:prstGeom prst="rect">
            <a:avLst/>
          </a:prstGeom>
          <a:noFill/>
          <a:ln/>
        </p:spPr>
        <p:txBody>
          <a:bodyPr wrap="square" lIns="0" tIns="0" rIns="0" bIns="0" rtlCol="0" anchor="b"/>
          <a:lstStyle/>
          <a:p>
            <a:pPr indent="0" marL="0">
              <a:buNone/>
            </a:pPr>
            <a:r>
              <a:rPr lang="en-US" sz="1300" b="1" i="1" dirty="0">
                <a:solidFill>
                  <a:srgbClr val="B04A16"/>
                </a:solidFill>
                <a:latin typeface="Calibri" pitchFamily="34" charset="0"/>
                <a:ea typeface="Calibri" pitchFamily="34" charset="-122"/>
                <a:cs typeface="Calibri" pitchFamily="34" charset="-120"/>
              </a:rPr>
              <a:t>Gemeinsamer Nenner: Absicherung über bestehende Kontroll- und Compliance-Prozesse.</a:t>
            </a:r>
            <a:endParaRPr lang="en-US" sz="1300" dirty="0"/>
          </a:p>
        </p:txBody>
      </p:sp>
      <p:sp>
        <p:nvSpPr>
          <p:cNvPr id="17" name="Shape 13"/>
          <p:cNvSpPr/>
          <p:nvPr/>
        </p:nvSpPr>
        <p:spPr>
          <a:xfrm>
            <a:off x="548640" y="5367528"/>
            <a:ext cx="11091672" cy="749808"/>
          </a:xfrm>
          <a:prstGeom prst="roundRect">
            <a:avLst>
              <a:gd name="adj" fmla="val 12195"/>
            </a:avLst>
          </a:prstGeom>
          <a:solidFill>
            <a:srgbClr val="F3F5F7"/>
          </a:solidFill>
          <a:ln w="9525">
            <a:solidFill>
              <a:srgbClr val="F3F5F7"/>
            </a:solidFill>
            <a:prstDash val="solid"/>
          </a:ln>
        </p:spPr>
      </p:sp>
      <p:sp>
        <p:nvSpPr>
          <p:cNvPr id="18" name="Shape 14"/>
          <p:cNvSpPr/>
          <p:nvPr/>
        </p:nvSpPr>
        <p:spPr>
          <a:xfrm>
            <a:off x="749808" y="5513832"/>
            <a:ext cx="457200" cy="457200"/>
          </a:xfrm>
          <a:prstGeom prst="ellipse">
            <a:avLst/>
          </a:prstGeom>
          <a:solidFill>
            <a:srgbClr val="13233A"/>
          </a:solidFill>
          <a:ln w="6350">
            <a:solidFill>
              <a:srgbClr val="13233A"/>
            </a:solidFill>
            <a:prstDash val="solid"/>
          </a:ln>
        </p:spPr>
      </p:sp>
      <p:pic>
        <p:nvPicPr>
          <p:cNvPr id="19" name="Image 2" descr="preencoded.png">    </p:cNvPr>
          <p:cNvPicPr>
            <a:picLocks noChangeAspect="1"/>
          </p:cNvPicPr>
          <p:nvPr/>
        </p:nvPicPr>
        <p:blipFill>
          <a:blip r:embed="rId3"/>
          <a:stretch>
            <a:fillRect/>
          </a:stretch>
        </p:blipFill>
        <p:spPr>
          <a:xfrm>
            <a:off x="868680" y="5632704"/>
            <a:ext cx="219456" cy="219456"/>
          </a:xfrm>
          <a:prstGeom prst="rect">
            <a:avLst/>
          </a:prstGeom>
        </p:spPr>
      </p:pic>
      <p:sp>
        <p:nvSpPr>
          <p:cNvPr id="20" name="Text 15"/>
          <p:cNvSpPr txBox="1"/>
          <p:nvPr/>
        </p:nvSpPr>
        <p:spPr>
          <a:xfrm>
            <a:off x="1389888" y="5367528"/>
            <a:ext cx="10058400" cy="749808"/>
          </a:xfrm>
          <a:prstGeom prst="rect">
            <a:avLst/>
          </a:prstGeom>
          <a:noFill/>
          <a:ln/>
        </p:spPr>
        <p:txBody>
          <a:bodyPr wrap="square" lIns="0" tIns="0" rIns="0" bIns="0" rtlCol="0" anchor="ctr"/>
          <a:lstStyle/>
          <a:p>
            <a:pPr indent="0" marL="0">
              <a:buNone/>
            </a:pPr>
            <a:r>
              <a:rPr lang="en-US" sz="1300" b="1" dirty="0">
                <a:solidFill>
                  <a:srgbClr val="13233A"/>
                </a:solidFill>
                <a:latin typeface="Calibri" pitchFamily="34" charset="0"/>
                <a:ea typeface="Calibri" pitchFamily="34" charset="-122"/>
                <a:cs typeface="Calibri" pitchFamily="34" charset="-120"/>
              </a:rPr>
              <a:t>Indirekt: McKinsey, Bain und Deloitte Insights. </a:t>
            </a:r>
            <a:pPr indent="0" marL="0">
              <a:buNone/>
            </a:pPr>
            <a:r>
              <a:rPr lang="en-US" sz="1300" dirty="0">
                <a:solidFill>
                  <a:srgbClr val="4A5A6C"/>
                </a:solidFill>
                <a:latin typeface="Calibri" pitchFamily="34" charset="0"/>
                <a:ea typeface="Calibri" pitchFamily="34" charset="-122"/>
                <a:cs typeface="Calibri" pitchFamily="34" charset="-120"/>
              </a:rPr>
              <a:t>Nachhaltigkeit ist Kunden wichtig, teils mit Zahlungsbereitschaft; Fokus auf Wertschöpfungsketten. Keine EmpCo-spezifischen Aussagen.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BEISPIEL · KOMPLETTPORTFOLIO</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Die ganze Leistungskette wird bereits angeboten</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 EY Österreich, „EmpCo-Richtlinie – Greenwashing vermeiden“ (Leistungsübersicht)</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9</a:t>
            </a:r>
            <a:endParaRPr lang="en-US" sz="1000" dirty="0"/>
          </a:p>
        </p:txBody>
      </p:sp>
      <p:sp>
        <p:nvSpPr>
          <p:cNvPr id="6" name="Text 4"/>
          <p:cNvSpPr txBox="1"/>
          <p:nvPr/>
        </p:nvSpPr>
        <p:spPr>
          <a:xfrm>
            <a:off x="548640" y="1508760"/>
            <a:ext cx="11064240" cy="365760"/>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So beschreibt EY Österreich sein Angebot zur EmpCo-Richtlinie:</a:t>
            </a:r>
            <a:endParaRPr lang="en-US" sz="1500" dirty="0"/>
          </a:p>
        </p:txBody>
      </p:sp>
      <p:sp>
        <p:nvSpPr>
          <p:cNvPr id="7" name="Shape 5"/>
          <p:cNvSpPr/>
          <p:nvPr/>
        </p:nvSpPr>
        <p:spPr>
          <a:xfrm>
            <a:off x="548640" y="2011680"/>
            <a:ext cx="3246120" cy="1280160"/>
          </a:xfrm>
          <a:prstGeom prst="roundRect">
            <a:avLst>
              <a:gd name="adj" fmla="val 7143"/>
            </a:avLst>
          </a:prstGeom>
          <a:solidFill>
            <a:srgbClr val="F3F5F7"/>
          </a:solidFill>
          <a:ln w="9525">
            <a:solidFill>
              <a:srgbClr val="D9DDE2"/>
            </a:solidFill>
            <a:prstDash val="solid"/>
          </a:ln>
        </p:spPr>
      </p:sp>
      <p:sp>
        <p:nvSpPr>
          <p:cNvPr id="8" name="Shape 6"/>
          <p:cNvSpPr/>
          <p:nvPr/>
        </p:nvSpPr>
        <p:spPr>
          <a:xfrm>
            <a:off x="749808" y="2414016"/>
            <a:ext cx="475488" cy="475488"/>
          </a:xfrm>
          <a:prstGeom prst="ellipse">
            <a:avLst/>
          </a:prstGeom>
          <a:solidFill>
            <a:srgbClr val="1F6F63"/>
          </a:solidFill>
          <a:ln w="6350">
            <a:solidFill>
              <a:srgbClr val="1F6F63"/>
            </a:solidFill>
            <a:prstDash val="solid"/>
          </a:ln>
        </p:spPr>
      </p:sp>
      <p:sp>
        <p:nvSpPr>
          <p:cNvPr id="9" name="Text 7"/>
          <p:cNvSpPr txBox="1"/>
          <p:nvPr/>
        </p:nvSpPr>
        <p:spPr>
          <a:xfrm>
            <a:off x="749808"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txBox="1"/>
          <p:nvPr/>
        </p:nvSpPr>
        <p:spPr>
          <a:xfrm>
            <a:off x="1371600" y="201168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Workshop zur Bewusstseinsbildung</a:t>
            </a:r>
            <a:endParaRPr lang="en-US" sz="1500" dirty="0"/>
          </a:p>
        </p:txBody>
      </p:sp>
      <p:sp>
        <p:nvSpPr>
          <p:cNvPr id="11" name="Shape 9"/>
          <p:cNvSpPr/>
          <p:nvPr/>
        </p:nvSpPr>
        <p:spPr>
          <a:xfrm>
            <a:off x="3867912" y="2651760"/>
            <a:ext cx="530352" cy="0"/>
          </a:xfrm>
          <a:prstGeom prst="line">
            <a:avLst/>
          </a:prstGeom>
          <a:noFill/>
          <a:ln w="25400">
            <a:solidFill>
              <a:srgbClr val="AEB8C4"/>
            </a:solidFill>
            <a:prstDash val="solid"/>
            <a:tailEnd type="triangle"/>
          </a:ln>
        </p:spPr>
      </p:sp>
      <p:sp>
        <p:nvSpPr>
          <p:cNvPr id="12" name="Shape 10"/>
          <p:cNvSpPr/>
          <p:nvPr/>
        </p:nvSpPr>
        <p:spPr>
          <a:xfrm>
            <a:off x="4471416" y="2011680"/>
            <a:ext cx="3246120" cy="1280160"/>
          </a:xfrm>
          <a:prstGeom prst="roundRect">
            <a:avLst>
              <a:gd name="adj" fmla="val 7143"/>
            </a:avLst>
          </a:prstGeom>
          <a:solidFill>
            <a:srgbClr val="F3F5F7"/>
          </a:solidFill>
          <a:ln w="9525">
            <a:solidFill>
              <a:srgbClr val="D9DDE2"/>
            </a:solidFill>
            <a:prstDash val="solid"/>
          </a:ln>
        </p:spPr>
      </p:sp>
      <p:sp>
        <p:nvSpPr>
          <p:cNvPr id="13" name="Shape 11"/>
          <p:cNvSpPr/>
          <p:nvPr/>
        </p:nvSpPr>
        <p:spPr>
          <a:xfrm>
            <a:off x="4672584" y="2414016"/>
            <a:ext cx="475488" cy="475488"/>
          </a:xfrm>
          <a:prstGeom prst="ellipse">
            <a:avLst/>
          </a:prstGeom>
          <a:solidFill>
            <a:srgbClr val="1F6F63"/>
          </a:solidFill>
          <a:ln w="6350">
            <a:solidFill>
              <a:srgbClr val="1F6F63"/>
            </a:solidFill>
            <a:prstDash val="solid"/>
          </a:ln>
        </p:spPr>
      </p:sp>
      <p:sp>
        <p:nvSpPr>
          <p:cNvPr id="14" name="Text 12"/>
          <p:cNvSpPr txBox="1"/>
          <p:nvPr/>
        </p:nvSpPr>
        <p:spPr>
          <a:xfrm>
            <a:off x="4672584"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5294376" y="201168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Risiko-Screening der Nachhaltigkeits-</a:t>
            </a:r>
            <a:endParaRPr lang="en-US" sz="1500" dirty="0"/>
          </a:p>
          <a:p>
            <a:pPr indent="0" marL="0">
              <a:buNone/>
            </a:pPr>
            <a:r>
              <a:rPr lang="en-US" sz="1500" b="1" dirty="0">
                <a:solidFill>
                  <a:srgbClr val="13233A"/>
                </a:solidFill>
                <a:latin typeface="Calibri" pitchFamily="34" charset="0"/>
                <a:ea typeface="Calibri" pitchFamily="34" charset="-122"/>
                <a:cs typeface="Calibri" pitchFamily="34" charset="-120"/>
              </a:rPr>
              <a:t>kommunikation</a:t>
            </a:r>
            <a:endParaRPr lang="en-US" sz="1500" dirty="0"/>
          </a:p>
        </p:txBody>
      </p:sp>
      <p:sp>
        <p:nvSpPr>
          <p:cNvPr id="16" name="Shape 14"/>
          <p:cNvSpPr/>
          <p:nvPr/>
        </p:nvSpPr>
        <p:spPr>
          <a:xfrm>
            <a:off x="7790688" y="2651760"/>
            <a:ext cx="530352" cy="0"/>
          </a:xfrm>
          <a:prstGeom prst="line">
            <a:avLst/>
          </a:prstGeom>
          <a:noFill/>
          <a:ln w="25400">
            <a:solidFill>
              <a:srgbClr val="AEB8C4"/>
            </a:solidFill>
            <a:prstDash val="solid"/>
            <a:tailEnd type="triangle"/>
          </a:ln>
        </p:spPr>
      </p:sp>
      <p:sp>
        <p:nvSpPr>
          <p:cNvPr id="17" name="Shape 15"/>
          <p:cNvSpPr/>
          <p:nvPr/>
        </p:nvSpPr>
        <p:spPr>
          <a:xfrm>
            <a:off x="8394192" y="2011680"/>
            <a:ext cx="3246120" cy="1280160"/>
          </a:xfrm>
          <a:prstGeom prst="roundRect">
            <a:avLst>
              <a:gd name="adj" fmla="val 7143"/>
            </a:avLst>
          </a:prstGeom>
          <a:solidFill>
            <a:srgbClr val="F3F5F7"/>
          </a:solidFill>
          <a:ln w="9525">
            <a:solidFill>
              <a:srgbClr val="D9DDE2"/>
            </a:solidFill>
            <a:prstDash val="solid"/>
          </a:ln>
        </p:spPr>
      </p:sp>
      <p:sp>
        <p:nvSpPr>
          <p:cNvPr id="18" name="Shape 16"/>
          <p:cNvSpPr/>
          <p:nvPr/>
        </p:nvSpPr>
        <p:spPr>
          <a:xfrm>
            <a:off x="8595360" y="2414016"/>
            <a:ext cx="475488" cy="475488"/>
          </a:xfrm>
          <a:prstGeom prst="ellipse">
            <a:avLst/>
          </a:prstGeom>
          <a:solidFill>
            <a:srgbClr val="1F6F63"/>
          </a:solidFill>
          <a:ln w="6350">
            <a:solidFill>
              <a:srgbClr val="1F6F63"/>
            </a:solidFill>
            <a:prstDash val="solid"/>
          </a:ln>
        </p:spPr>
      </p:sp>
      <p:sp>
        <p:nvSpPr>
          <p:cNvPr id="19" name="Text 17"/>
          <p:cNvSpPr txBox="1"/>
          <p:nvPr/>
        </p:nvSpPr>
        <p:spPr>
          <a:xfrm>
            <a:off x="8595360"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txBox="1"/>
          <p:nvPr/>
        </p:nvSpPr>
        <p:spPr>
          <a:xfrm>
            <a:off x="9217152" y="201168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Green Claims Check</a:t>
            </a:r>
            <a:endParaRPr lang="en-US" sz="1500" dirty="0"/>
          </a:p>
        </p:txBody>
      </p:sp>
      <p:sp>
        <p:nvSpPr>
          <p:cNvPr id="21" name="Shape 19"/>
          <p:cNvSpPr/>
          <p:nvPr/>
        </p:nvSpPr>
        <p:spPr>
          <a:xfrm>
            <a:off x="548640" y="3886200"/>
            <a:ext cx="3246120" cy="1280160"/>
          </a:xfrm>
          <a:prstGeom prst="roundRect">
            <a:avLst>
              <a:gd name="adj" fmla="val 7143"/>
            </a:avLst>
          </a:prstGeom>
          <a:solidFill>
            <a:srgbClr val="F3F5F7"/>
          </a:solidFill>
          <a:ln w="9525">
            <a:solidFill>
              <a:srgbClr val="D9DDE2"/>
            </a:solidFill>
            <a:prstDash val="solid"/>
          </a:ln>
        </p:spPr>
      </p:sp>
      <p:sp>
        <p:nvSpPr>
          <p:cNvPr id="22" name="Shape 20"/>
          <p:cNvSpPr/>
          <p:nvPr/>
        </p:nvSpPr>
        <p:spPr>
          <a:xfrm>
            <a:off x="749808" y="4288536"/>
            <a:ext cx="475488" cy="475488"/>
          </a:xfrm>
          <a:prstGeom prst="ellipse">
            <a:avLst/>
          </a:prstGeom>
          <a:solidFill>
            <a:srgbClr val="1F6F63"/>
          </a:solidFill>
          <a:ln w="6350">
            <a:solidFill>
              <a:srgbClr val="1F6F63"/>
            </a:solidFill>
            <a:prstDash val="solid"/>
          </a:ln>
        </p:spPr>
      </p:sp>
      <p:sp>
        <p:nvSpPr>
          <p:cNvPr id="23" name="Text 21"/>
          <p:cNvSpPr txBox="1"/>
          <p:nvPr/>
        </p:nvSpPr>
        <p:spPr>
          <a:xfrm>
            <a:off x="749808" y="42885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1371600" y="388620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Gap-Assessment gegenüber den EmpCo-Vorgaben</a:t>
            </a:r>
            <a:endParaRPr lang="en-US" sz="1500" dirty="0"/>
          </a:p>
        </p:txBody>
      </p:sp>
      <p:sp>
        <p:nvSpPr>
          <p:cNvPr id="25" name="Shape 23"/>
          <p:cNvSpPr/>
          <p:nvPr/>
        </p:nvSpPr>
        <p:spPr>
          <a:xfrm>
            <a:off x="3867912" y="4526280"/>
            <a:ext cx="530352" cy="0"/>
          </a:xfrm>
          <a:prstGeom prst="line">
            <a:avLst/>
          </a:prstGeom>
          <a:noFill/>
          <a:ln w="25400">
            <a:solidFill>
              <a:srgbClr val="AEB8C4"/>
            </a:solidFill>
            <a:prstDash val="solid"/>
            <a:tailEnd type="triangle"/>
          </a:ln>
        </p:spPr>
      </p:sp>
      <p:sp>
        <p:nvSpPr>
          <p:cNvPr id="26" name="Shape 24"/>
          <p:cNvSpPr/>
          <p:nvPr/>
        </p:nvSpPr>
        <p:spPr>
          <a:xfrm>
            <a:off x="4471416" y="3886200"/>
            <a:ext cx="3246120" cy="1280160"/>
          </a:xfrm>
          <a:prstGeom prst="roundRect">
            <a:avLst>
              <a:gd name="adj" fmla="val 7143"/>
            </a:avLst>
          </a:prstGeom>
          <a:solidFill>
            <a:srgbClr val="F3F5F7"/>
          </a:solidFill>
          <a:ln w="9525">
            <a:solidFill>
              <a:srgbClr val="D9DDE2"/>
            </a:solidFill>
            <a:prstDash val="solid"/>
          </a:ln>
        </p:spPr>
      </p:sp>
      <p:sp>
        <p:nvSpPr>
          <p:cNvPr id="27" name="Shape 25"/>
          <p:cNvSpPr/>
          <p:nvPr/>
        </p:nvSpPr>
        <p:spPr>
          <a:xfrm>
            <a:off x="4672584" y="4288536"/>
            <a:ext cx="475488" cy="475488"/>
          </a:xfrm>
          <a:prstGeom prst="ellipse">
            <a:avLst/>
          </a:prstGeom>
          <a:solidFill>
            <a:srgbClr val="1F6F63"/>
          </a:solidFill>
          <a:ln w="6350">
            <a:solidFill>
              <a:srgbClr val="1F6F63"/>
            </a:solidFill>
            <a:prstDash val="solid"/>
          </a:ln>
        </p:spPr>
      </p:sp>
      <p:sp>
        <p:nvSpPr>
          <p:cNvPr id="28" name="Text 26"/>
          <p:cNvSpPr txBox="1"/>
          <p:nvPr/>
        </p:nvSpPr>
        <p:spPr>
          <a:xfrm>
            <a:off x="4672584" y="42885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txBox="1"/>
          <p:nvPr/>
        </p:nvSpPr>
        <p:spPr>
          <a:xfrm>
            <a:off x="5294376" y="388620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Guideline und Prozessverankerung</a:t>
            </a:r>
            <a:endParaRPr lang="en-US" sz="1500" dirty="0"/>
          </a:p>
        </p:txBody>
      </p:sp>
      <p:sp>
        <p:nvSpPr>
          <p:cNvPr id="30" name="Shape 28"/>
          <p:cNvSpPr/>
          <p:nvPr/>
        </p:nvSpPr>
        <p:spPr>
          <a:xfrm>
            <a:off x="7790688" y="4526280"/>
            <a:ext cx="530352" cy="0"/>
          </a:xfrm>
          <a:prstGeom prst="line">
            <a:avLst/>
          </a:prstGeom>
          <a:noFill/>
          <a:ln w="25400">
            <a:solidFill>
              <a:srgbClr val="AEB8C4"/>
            </a:solidFill>
            <a:prstDash val="solid"/>
            <a:tailEnd type="triangle"/>
          </a:ln>
        </p:spPr>
      </p:sp>
      <p:sp>
        <p:nvSpPr>
          <p:cNvPr id="31" name="Shape 29"/>
          <p:cNvSpPr/>
          <p:nvPr/>
        </p:nvSpPr>
        <p:spPr>
          <a:xfrm>
            <a:off x="8394192" y="3886200"/>
            <a:ext cx="3246120" cy="1280160"/>
          </a:xfrm>
          <a:prstGeom prst="roundRect">
            <a:avLst>
              <a:gd name="adj" fmla="val 7143"/>
            </a:avLst>
          </a:prstGeom>
          <a:solidFill>
            <a:srgbClr val="F3F5F7"/>
          </a:solidFill>
          <a:ln w="9525">
            <a:solidFill>
              <a:srgbClr val="D9DDE2"/>
            </a:solidFill>
            <a:prstDash val="solid"/>
          </a:ln>
        </p:spPr>
      </p:sp>
      <p:sp>
        <p:nvSpPr>
          <p:cNvPr id="32" name="Shape 30"/>
          <p:cNvSpPr/>
          <p:nvPr/>
        </p:nvSpPr>
        <p:spPr>
          <a:xfrm>
            <a:off x="8595360" y="4288536"/>
            <a:ext cx="475488" cy="475488"/>
          </a:xfrm>
          <a:prstGeom prst="ellipse">
            <a:avLst/>
          </a:prstGeom>
          <a:solidFill>
            <a:srgbClr val="1F6F63"/>
          </a:solidFill>
          <a:ln w="6350">
            <a:solidFill>
              <a:srgbClr val="1F6F63"/>
            </a:solidFill>
            <a:prstDash val="solid"/>
          </a:ln>
        </p:spPr>
      </p:sp>
      <p:sp>
        <p:nvSpPr>
          <p:cNvPr id="33" name="Text 31"/>
          <p:cNvSpPr txBox="1"/>
          <p:nvPr/>
        </p:nvSpPr>
        <p:spPr>
          <a:xfrm>
            <a:off x="8595360" y="42885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4" name="Text 32"/>
          <p:cNvSpPr txBox="1"/>
          <p:nvPr/>
        </p:nvSpPr>
        <p:spPr>
          <a:xfrm>
            <a:off x="9217152" y="3886200"/>
            <a:ext cx="2286000" cy="1280160"/>
          </a:xfrm>
          <a:prstGeom prst="rect">
            <a:avLst/>
          </a:prstGeom>
          <a:noFill/>
          <a:ln/>
        </p:spPr>
        <p:txBody>
          <a:bodyPr wrap="square" lIns="0" tIns="0" rIns="0" bIns="0" rtlCol="0" anchor="ctr"/>
          <a:lstStyle/>
          <a:p>
            <a:pPr indent="0" marL="0">
              <a:buNone/>
            </a:pPr>
            <a:r>
              <a:rPr lang="en-US" sz="1500" b="1" dirty="0">
                <a:solidFill>
                  <a:srgbClr val="13233A"/>
                </a:solidFill>
                <a:latin typeface="Calibri" pitchFamily="34" charset="0"/>
                <a:ea typeface="Calibri" pitchFamily="34" charset="-122"/>
                <a:cs typeface="Calibri" pitchFamily="34" charset="-120"/>
              </a:rPr>
              <a:t>Schaffung der Datengrundlage</a:t>
            </a:r>
            <a:endParaRPr lang="en-US" sz="1500" dirty="0"/>
          </a:p>
        </p:txBody>
      </p:sp>
      <p:sp>
        <p:nvSpPr>
          <p:cNvPr id="35" name="Shape 33"/>
          <p:cNvSpPr/>
          <p:nvPr/>
        </p:nvSpPr>
        <p:spPr>
          <a:xfrm>
            <a:off x="10017252" y="3328416"/>
            <a:ext cx="0" cy="260604"/>
          </a:xfrm>
          <a:prstGeom prst="line">
            <a:avLst/>
          </a:prstGeom>
          <a:noFill/>
          <a:ln w="25400">
            <a:solidFill>
              <a:srgbClr val="AEB8C4"/>
            </a:solidFill>
            <a:prstDash val="solid"/>
          </a:ln>
        </p:spPr>
      </p:sp>
      <p:sp>
        <p:nvSpPr>
          <p:cNvPr id="36" name="Shape 34"/>
          <p:cNvSpPr/>
          <p:nvPr/>
        </p:nvSpPr>
        <p:spPr>
          <a:xfrm>
            <a:off x="2171700" y="3589020"/>
            <a:ext cx="7845552" cy="0"/>
          </a:xfrm>
          <a:prstGeom prst="line">
            <a:avLst/>
          </a:prstGeom>
          <a:noFill/>
          <a:ln w="25400">
            <a:solidFill>
              <a:srgbClr val="AEB8C4"/>
            </a:solidFill>
            <a:prstDash val="solid"/>
          </a:ln>
        </p:spPr>
      </p:sp>
      <p:sp>
        <p:nvSpPr>
          <p:cNvPr id="37" name="Shape 35"/>
          <p:cNvSpPr/>
          <p:nvPr/>
        </p:nvSpPr>
        <p:spPr>
          <a:xfrm>
            <a:off x="2171700" y="3589020"/>
            <a:ext cx="0" cy="260604"/>
          </a:xfrm>
          <a:prstGeom prst="line">
            <a:avLst/>
          </a:prstGeom>
          <a:noFill/>
          <a:ln w="25400">
            <a:solidFill>
              <a:srgbClr val="AEB8C4"/>
            </a:solidFill>
            <a:prstDash val="solid"/>
            <a:tailEnd type="triangle"/>
          </a:ln>
        </p:spPr>
      </p:sp>
      <p:sp>
        <p:nvSpPr>
          <p:cNvPr id="38" name="Shape 36"/>
          <p:cNvSpPr/>
          <p:nvPr/>
        </p:nvSpPr>
        <p:spPr>
          <a:xfrm>
            <a:off x="548640" y="5440680"/>
            <a:ext cx="11091672" cy="658368"/>
          </a:xfrm>
          <a:prstGeom prst="roundRect">
            <a:avLst>
              <a:gd name="adj" fmla="val 13889"/>
            </a:avLst>
          </a:prstGeom>
          <a:solidFill>
            <a:srgbClr val="FBEEE4"/>
          </a:solidFill>
          <a:ln w="9525">
            <a:solidFill>
              <a:srgbClr val="FBEEE4"/>
            </a:solidFill>
            <a:prstDash val="solid"/>
          </a:ln>
        </p:spPr>
      </p:sp>
      <p:sp>
        <p:nvSpPr>
          <p:cNvPr id="39" name="Text 37"/>
          <p:cNvSpPr txBox="1"/>
          <p:nvPr/>
        </p:nvSpPr>
        <p:spPr>
          <a:xfrm>
            <a:off x="777240" y="5440680"/>
            <a:ext cx="10698480" cy="658368"/>
          </a:xfrm>
          <a:prstGeom prst="rect">
            <a:avLst/>
          </a:prstGeom>
          <a:noFill/>
          <a:ln/>
        </p:spPr>
        <p:txBody>
          <a:bodyPr wrap="square" lIns="0" tIns="0" rIns="0" bIns="0" rtlCol="0" anchor="ctr"/>
          <a:lstStyle/>
          <a:p>
            <a:pPr indent="0" marL="0">
              <a:buNone/>
            </a:pPr>
            <a:r>
              <a:rPr lang="en-US" sz="1500" b="1" dirty="0">
                <a:solidFill>
                  <a:srgbClr val="B04A16"/>
                </a:solidFill>
                <a:latin typeface="Calibri" pitchFamily="34" charset="0"/>
                <a:ea typeface="Calibri" pitchFamily="34" charset="-122"/>
                <a:cs typeface="Calibri" pitchFamily="34" charset="-120"/>
              </a:rPr>
              <a:t>Heißt für uns: </a:t>
            </a:r>
            <a:pPr indent="0" marL="0">
              <a:buNone/>
            </a:pPr>
            <a:r>
              <a:rPr lang="en-US" sz="1500" dirty="0">
                <a:solidFill>
                  <a:srgbClr val="13233A"/>
                </a:solidFill>
                <a:latin typeface="Calibri" pitchFamily="34" charset="0"/>
                <a:ea typeface="Calibri" pitchFamily="34" charset="-122"/>
                <a:cs typeface="Calibri" pitchFamily="34" charset="-120"/>
              </a:rPr>
              <a:t>Die Prozesskette allein ist kein Alleinstellungsmerkmal.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5 · MARKTANGEBOT</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Was der Markt verkauft: breit und austauschbar</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Rödl-Flyer „Dekarbonisierung, Nachhaltigkeit, Greenwashing“ · TÜV Rheinland, „Green Claims Quick Check“ · Haufe, „Vom Rechtscheck zum dauerhaften Prüfprozess“</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572768"/>
            <a:ext cx="2624328" cy="3611880"/>
          </a:xfrm>
          <a:prstGeom prst="roundRect">
            <a:avLst>
              <a:gd name="adj" fmla="val 3484"/>
            </a:avLst>
          </a:prstGeom>
          <a:solidFill>
            <a:srgbClr val="F3F5F7"/>
          </a:solidFill>
          <a:ln w="9525">
            <a:solidFill>
              <a:srgbClr val="F3F5F7"/>
            </a:solidFill>
            <a:prstDash val="solid"/>
          </a:ln>
        </p:spPr>
      </p:sp>
      <p:sp>
        <p:nvSpPr>
          <p:cNvPr id="7" name="Shape 5"/>
          <p:cNvSpPr/>
          <p:nvPr/>
        </p:nvSpPr>
        <p:spPr>
          <a:xfrm>
            <a:off x="749808" y="1773936"/>
            <a:ext cx="475488" cy="475488"/>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873435" y="1897563"/>
            <a:ext cx="228234" cy="228234"/>
          </a:xfrm>
          <a:prstGeom prst="rect">
            <a:avLst/>
          </a:prstGeom>
        </p:spPr>
      </p:pic>
      <p:sp>
        <p:nvSpPr>
          <p:cNvPr id="9" name="Text 6"/>
          <p:cNvSpPr txBox="1"/>
          <p:nvPr/>
        </p:nvSpPr>
        <p:spPr>
          <a:xfrm>
            <a:off x="749808" y="2395728"/>
            <a:ext cx="2221992" cy="548640"/>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Wissen und Befähigung</a:t>
            </a:r>
            <a:endParaRPr lang="en-US" sz="1500" dirty="0"/>
          </a:p>
        </p:txBody>
      </p:sp>
      <p:sp>
        <p:nvSpPr>
          <p:cNvPr id="10" name="Text 7"/>
          <p:cNvSpPr txBox="1"/>
          <p:nvPr/>
        </p:nvSpPr>
        <p:spPr>
          <a:xfrm>
            <a:off x="749808" y="2990088"/>
            <a:ext cx="2258568"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Wissen und Updates</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Schulungen und Workshops</a:t>
            </a:r>
            <a:endParaRPr lang="en-US" sz="1300" dirty="0"/>
          </a:p>
        </p:txBody>
      </p:sp>
      <p:sp>
        <p:nvSpPr>
          <p:cNvPr id="11" name="Shape 8"/>
          <p:cNvSpPr/>
          <p:nvPr/>
        </p:nvSpPr>
        <p:spPr>
          <a:xfrm>
            <a:off x="3371088" y="1572768"/>
            <a:ext cx="2624328" cy="3611880"/>
          </a:xfrm>
          <a:prstGeom prst="roundRect">
            <a:avLst>
              <a:gd name="adj" fmla="val 3484"/>
            </a:avLst>
          </a:prstGeom>
          <a:solidFill>
            <a:srgbClr val="F3F5F7"/>
          </a:solidFill>
          <a:ln w="9525">
            <a:solidFill>
              <a:srgbClr val="F3F5F7"/>
            </a:solidFill>
            <a:prstDash val="solid"/>
          </a:ln>
        </p:spPr>
      </p:sp>
      <p:sp>
        <p:nvSpPr>
          <p:cNvPr id="12" name="Shape 9"/>
          <p:cNvSpPr/>
          <p:nvPr/>
        </p:nvSpPr>
        <p:spPr>
          <a:xfrm>
            <a:off x="3572256" y="1773936"/>
            <a:ext cx="475488" cy="475488"/>
          </a:xfrm>
          <a:prstGeom prst="ellipse">
            <a:avLst/>
          </a:prstGeom>
          <a:solidFill>
            <a:srgbClr val="1F6F63"/>
          </a:solidFill>
          <a:ln w="6350">
            <a:solidFill>
              <a:srgbClr val="1F6F63"/>
            </a:solidFill>
            <a:prstDash val="solid"/>
          </a:ln>
        </p:spPr>
      </p:sp>
      <p:pic>
        <p:nvPicPr>
          <p:cNvPr id="13" name="Image 1" descr="preencoded.png">    </p:cNvPr>
          <p:cNvPicPr>
            <a:picLocks noChangeAspect="1"/>
          </p:cNvPicPr>
          <p:nvPr/>
        </p:nvPicPr>
        <p:blipFill>
          <a:blip r:embed="rId2"/>
          <a:stretch>
            <a:fillRect/>
          </a:stretch>
        </p:blipFill>
        <p:spPr>
          <a:xfrm>
            <a:off x="3695883" y="1897563"/>
            <a:ext cx="228234" cy="228234"/>
          </a:xfrm>
          <a:prstGeom prst="rect">
            <a:avLst/>
          </a:prstGeom>
        </p:spPr>
      </p:pic>
      <p:sp>
        <p:nvSpPr>
          <p:cNvPr id="14" name="Text 10"/>
          <p:cNvSpPr txBox="1"/>
          <p:nvPr/>
        </p:nvSpPr>
        <p:spPr>
          <a:xfrm>
            <a:off x="3572256" y="2395728"/>
            <a:ext cx="2221992" cy="548640"/>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Screening und Bewertung</a:t>
            </a:r>
            <a:endParaRPr lang="en-US" sz="1500" dirty="0"/>
          </a:p>
        </p:txBody>
      </p:sp>
      <p:sp>
        <p:nvSpPr>
          <p:cNvPr id="15" name="Text 11"/>
          <p:cNvSpPr txBox="1"/>
          <p:nvPr/>
        </p:nvSpPr>
        <p:spPr>
          <a:xfrm>
            <a:off x="3572256" y="2990088"/>
            <a:ext cx="2258568"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Claim-Screening mit Ampel</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Claim-Quick-Check</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Risikoanalyse</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Readiness-Bewertung</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Strukturierte Prüfung einzelner Claims</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Rechtliche Bewertung im Einzelfall</a:t>
            </a:r>
            <a:endParaRPr lang="en-US" sz="1300" dirty="0"/>
          </a:p>
        </p:txBody>
      </p:sp>
      <p:sp>
        <p:nvSpPr>
          <p:cNvPr id="16" name="Shape 12"/>
          <p:cNvSpPr/>
          <p:nvPr/>
        </p:nvSpPr>
        <p:spPr>
          <a:xfrm>
            <a:off x="6193536" y="1572768"/>
            <a:ext cx="2624328" cy="3611880"/>
          </a:xfrm>
          <a:prstGeom prst="roundRect">
            <a:avLst>
              <a:gd name="adj" fmla="val 3484"/>
            </a:avLst>
          </a:prstGeom>
          <a:solidFill>
            <a:srgbClr val="F3F5F7"/>
          </a:solidFill>
          <a:ln w="9525">
            <a:solidFill>
              <a:srgbClr val="F3F5F7"/>
            </a:solidFill>
            <a:prstDash val="solid"/>
          </a:ln>
        </p:spPr>
      </p:sp>
      <p:sp>
        <p:nvSpPr>
          <p:cNvPr id="17" name="Shape 13"/>
          <p:cNvSpPr/>
          <p:nvPr/>
        </p:nvSpPr>
        <p:spPr>
          <a:xfrm>
            <a:off x="6394704" y="1773936"/>
            <a:ext cx="475488" cy="475488"/>
          </a:xfrm>
          <a:prstGeom prst="ellipse">
            <a:avLst/>
          </a:prstGeom>
          <a:solidFill>
            <a:srgbClr val="1F6F63"/>
          </a:solidFill>
          <a:ln w="6350">
            <a:solidFill>
              <a:srgbClr val="1F6F63"/>
            </a:solidFill>
            <a:prstDash val="solid"/>
          </a:ln>
        </p:spPr>
      </p:sp>
      <p:pic>
        <p:nvPicPr>
          <p:cNvPr id="18" name="Image 2" descr="preencoded.png">    </p:cNvPr>
          <p:cNvPicPr>
            <a:picLocks noChangeAspect="1"/>
          </p:cNvPicPr>
          <p:nvPr/>
        </p:nvPicPr>
        <p:blipFill>
          <a:blip r:embed="rId3"/>
          <a:stretch>
            <a:fillRect/>
          </a:stretch>
        </p:blipFill>
        <p:spPr>
          <a:xfrm>
            <a:off x="6518331" y="1897563"/>
            <a:ext cx="228234" cy="228234"/>
          </a:xfrm>
          <a:prstGeom prst="rect">
            <a:avLst/>
          </a:prstGeom>
        </p:spPr>
      </p:pic>
      <p:sp>
        <p:nvSpPr>
          <p:cNvPr id="19" name="Text 14"/>
          <p:cNvSpPr txBox="1"/>
          <p:nvPr/>
        </p:nvSpPr>
        <p:spPr>
          <a:xfrm>
            <a:off x="6394704" y="2395728"/>
            <a:ext cx="2221992" cy="548640"/>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Umsetzung</a:t>
            </a:r>
            <a:endParaRPr lang="en-US" sz="1500" dirty="0"/>
          </a:p>
        </p:txBody>
      </p:sp>
      <p:sp>
        <p:nvSpPr>
          <p:cNvPr id="20" name="Text 15"/>
          <p:cNvSpPr txBox="1"/>
          <p:nvPr/>
        </p:nvSpPr>
        <p:spPr>
          <a:xfrm>
            <a:off x="6394704" y="2990088"/>
            <a:ext cx="2258568"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Aufbau von Belegen</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Framework und Governance-Design</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Identifizierung und Umsetzung von Maßnahmen</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Umstellung von Labels und Kommunikation</a:t>
            </a:r>
            <a:endParaRPr lang="en-US" sz="1300" dirty="0"/>
          </a:p>
        </p:txBody>
      </p:sp>
      <p:sp>
        <p:nvSpPr>
          <p:cNvPr id="21" name="Shape 16"/>
          <p:cNvSpPr/>
          <p:nvPr/>
        </p:nvSpPr>
        <p:spPr>
          <a:xfrm>
            <a:off x="9015984" y="1572768"/>
            <a:ext cx="2624328" cy="3611880"/>
          </a:xfrm>
          <a:prstGeom prst="roundRect">
            <a:avLst>
              <a:gd name="adj" fmla="val 3484"/>
            </a:avLst>
          </a:prstGeom>
          <a:solidFill>
            <a:srgbClr val="F3F5F7"/>
          </a:solidFill>
          <a:ln w="9525">
            <a:solidFill>
              <a:srgbClr val="F3F5F7"/>
            </a:solidFill>
            <a:prstDash val="solid"/>
          </a:ln>
        </p:spPr>
      </p:sp>
      <p:sp>
        <p:nvSpPr>
          <p:cNvPr id="22" name="Shape 17"/>
          <p:cNvSpPr/>
          <p:nvPr/>
        </p:nvSpPr>
        <p:spPr>
          <a:xfrm>
            <a:off x="9217152" y="1773936"/>
            <a:ext cx="475488" cy="475488"/>
          </a:xfrm>
          <a:prstGeom prst="ellipse">
            <a:avLst/>
          </a:prstGeom>
          <a:solidFill>
            <a:srgbClr val="1F6F63"/>
          </a:solidFill>
          <a:ln w="6350">
            <a:solidFill>
              <a:srgbClr val="1F6F63"/>
            </a:solidFill>
            <a:prstDash val="solid"/>
          </a:ln>
        </p:spPr>
      </p:sp>
      <p:pic>
        <p:nvPicPr>
          <p:cNvPr id="23" name="Image 3" descr="preencoded.png">    </p:cNvPr>
          <p:cNvPicPr>
            <a:picLocks noChangeAspect="1"/>
          </p:cNvPicPr>
          <p:nvPr/>
        </p:nvPicPr>
        <p:blipFill>
          <a:blip r:embed="rId4"/>
          <a:stretch>
            <a:fillRect/>
          </a:stretch>
        </p:blipFill>
        <p:spPr>
          <a:xfrm>
            <a:off x="9340779" y="1897563"/>
            <a:ext cx="228234" cy="228234"/>
          </a:xfrm>
          <a:prstGeom prst="rect">
            <a:avLst/>
          </a:prstGeom>
        </p:spPr>
      </p:pic>
      <p:sp>
        <p:nvSpPr>
          <p:cNvPr id="24" name="Text 18"/>
          <p:cNvSpPr txBox="1"/>
          <p:nvPr/>
        </p:nvSpPr>
        <p:spPr>
          <a:xfrm>
            <a:off x="9217152" y="2395728"/>
            <a:ext cx="2221992" cy="548640"/>
          </a:xfrm>
          <a:prstGeom prst="rect">
            <a:avLst/>
          </a:prstGeom>
          <a:noFill/>
          <a:ln/>
        </p:spPr>
        <p:txBody>
          <a:bodyPr wrap="square" lIns="0" tIns="0" rIns="0" bIns="0" rtlCol="0" anchor="t"/>
          <a:lstStyle/>
          <a:p>
            <a:pPr indent="0" marL="0">
              <a:buNone/>
            </a:pPr>
            <a:r>
              <a:rPr lang="en-US" sz="1500" b="1" dirty="0">
                <a:solidFill>
                  <a:srgbClr val="13233A"/>
                </a:solidFill>
                <a:latin typeface="Calibri" pitchFamily="34" charset="0"/>
                <a:ea typeface="Calibri" pitchFamily="34" charset="-122"/>
                <a:cs typeface="Calibri" pitchFamily="34" charset="-120"/>
              </a:rPr>
              <a:t>Absicherung und Technik</a:t>
            </a:r>
            <a:endParaRPr lang="en-US" sz="1500" dirty="0"/>
          </a:p>
        </p:txBody>
      </p:sp>
      <p:sp>
        <p:nvSpPr>
          <p:cNvPr id="25" name="Text 19"/>
          <p:cNvSpPr txBox="1"/>
          <p:nvPr/>
        </p:nvSpPr>
        <p:spPr>
          <a:xfrm>
            <a:off x="9217152" y="2990088"/>
            <a:ext cx="2258568"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Verifizierung und Prüfung</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Krisenbegleitung</a:t>
            </a:r>
            <a:endParaRPr lang="en-US" sz="1300" dirty="0"/>
          </a:p>
          <a:p>
            <a:pPr marL="177800" indent="-177800">
              <a:spcAft>
                <a:spcPts val="500"/>
              </a:spcAft>
              <a:buSzPct val="100000"/>
              <a:buChar char="•"/>
            </a:pPr>
            <a:r>
              <a:rPr lang="en-US" sz="1300" dirty="0">
                <a:solidFill>
                  <a:srgbClr val="4A5A6C"/>
                </a:solidFill>
                <a:latin typeface="Calibri" pitchFamily="34" charset="0"/>
                <a:ea typeface="Calibri" pitchFamily="34" charset="-122"/>
                <a:cs typeface="Calibri" pitchFamily="34" charset="-120"/>
              </a:rPr>
              <a:t>Software und einfache KI-Scans</a:t>
            </a:r>
            <a:endParaRPr lang="en-US" sz="1300" dirty="0"/>
          </a:p>
        </p:txBody>
      </p:sp>
      <p:sp>
        <p:nvSpPr>
          <p:cNvPr id="26" name="Shape 20"/>
          <p:cNvSpPr/>
          <p:nvPr/>
        </p:nvSpPr>
        <p:spPr>
          <a:xfrm>
            <a:off x="548640" y="5367528"/>
            <a:ext cx="11091672" cy="749808"/>
          </a:xfrm>
          <a:prstGeom prst="roundRect">
            <a:avLst>
              <a:gd name="adj" fmla="val 12195"/>
            </a:avLst>
          </a:prstGeom>
          <a:solidFill>
            <a:srgbClr val="13233A"/>
          </a:solidFill>
          <a:ln w="9525">
            <a:solidFill>
              <a:srgbClr val="13233A"/>
            </a:solidFill>
            <a:prstDash val="solid"/>
          </a:ln>
        </p:spPr>
      </p:sp>
      <p:sp>
        <p:nvSpPr>
          <p:cNvPr id="27" name="Text 21"/>
          <p:cNvSpPr txBox="1"/>
          <p:nvPr/>
        </p:nvSpPr>
        <p:spPr>
          <a:xfrm>
            <a:off x="777240" y="5367528"/>
            <a:ext cx="10698480" cy="749808"/>
          </a:xfrm>
          <a:prstGeom prst="rect">
            <a:avLst/>
          </a:prstGeom>
          <a:noFill/>
          <a:ln/>
        </p:spPr>
        <p:txBody>
          <a:bodyPr wrap="square" lIns="0" tIns="0" rIns="0" bIns="0" rtlCol="0" anchor="ctr"/>
          <a:lstStyle/>
          <a:p>
            <a:pPr indent="0" marL="0">
              <a:buNone/>
            </a:pPr>
            <a:r>
              <a:rPr lang="en-US" sz="1400" b="1" dirty="0">
                <a:solidFill>
                  <a:srgbClr val="F2A65A"/>
                </a:solidFill>
                <a:latin typeface="Calibri" pitchFamily="34" charset="0"/>
                <a:ea typeface="Calibri" pitchFamily="34" charset="-122"/>
                <a:cs typeface="Calibri" pitchFamily="34" charset="-120"/>
              </a:rPr>
              <a:t>KI </a:t>
            </a:r>
            <a:pPr indent="0" marL="0">
              <a:buNone/>
            </a:pPr>
            <a:r>
              <a:rPr lang="en-US" sz="1400" dirty="0">
                <a:solidFill>
                  <a:srgbClr val="FFFFFF"/>
                </a:solidFill>
                <a:latin typeface="Calibri" pitchFamily="34" charset="0"/>
                <a:ea typeface="Calibri" pitchFamily="34" charset="-122"/>
                <a:cs typeface="Calibri" pitchFamily="34" charset="-120"/>
              </a:rPr>
              <a:t>wird vor allem eingesetzt, um Claims zu finden, nicht für die Entscheidung (Haufe). </a:t>
            </a:r>
            <a:pPr indent="0" marL="0">
              <a:buNone/>
            </a:pPr>
            <a:r>
              <a:rPr lang="en-US" sz="1400" b="1" dirty="0">
                <a:solidFill>
                  <a:srgbClr val="FFFFFF"/>
                </a:solidFill>
                <a:latin typeface="Calibri" pitchFamily="34" charset="0"/>
                <a:ea typeface="Calibri" pitchFamily="34" charset="-122"/>
                <a:cs typeface="Calibri" pitchFamily="34" charset="-120"/>
              </a:rPr>
              <a:t>Ergebnis der Recherche: kein USP im Angebot.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FRAGE 5 · USP-ANSÄTZE</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Drei USP-Ideen im Check</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Quellen: eigene Analyse; Anknüpfung an Simon-Kucher (Pressemitteilung vom 28.09.2026) und Deloitte Insights</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572768"/>
            <a:ext cx="3566160" cy="2926080"/>
          </a:xfrm>
          <a:prstGeom prst="roundRect">
            <a:avLst>
              <a:gd name="adj" fmla="val 3125"/>
            </a:avLst>
          </a:prstGeom>
          <a:solidFill>
            <a:srgbClr val="F3F5F7"/>
          </a:solidFill>
          <a:ln w="9525">
            <a:solidFill>
              <a:srgbClr val="F3F5F7"/>
            </a:solidFill>
            <a:prstDash val="solid"/>
          </a:ln>
        </p:spPr>
      </p:sp>
      <p:sp>
        <p:nvSpPr>
          <p:cNvPr id="7" name="Shape 5"/>
          <p:cNvSpPr/>
          <p:nvPr/>
        </p:nvSpPr>
        <p:spPr>
          <a:xfrm>
            <a:off x="777240" y="1801368"/>
            <a:ext cx="493776" cy="493776"/>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905622" y="1929750"/>
            <a:ext cx="237012" cy="237012"/>
          </a:xfrm>
          <a:prstGeom prst="rect">
            <a:avLst/>
          </a:prstGeom>
        </p:spPr>
      </p:pic>
      <p:sp>
        <p:nvSpPr>
          <p:cNvPr id="9" name="Shape 6"/>
          <p:cNvSpPr/>
          <p:nvPr/>
        </p:nvSpPr>
        <p:spPr>
          <a:xfrm>
            <a:off x="2240280" y="1901952"/>
            <a:ext cx="1645920" cy="310896"/>
          </a:xfrm>
          <a:prstGeom prst="roundRect">
            <a:avLst>
              <a:gd name="adj" fmla="val 50000"/>
            </a:avLst>
          </a:prstGeom>
          <a:solidFill>
            <a:srgbClr val="FBEEE4"/>
          </a:solidFill>
          <a:ln w="9525">
            <a:solidFill>
              <a:srgbClr val="B04A16"/>
            </a:solidFill>
            <a:prstDash val="solid"/>
          </a:ln>
        </p:spPr>
      </p:sp>
      <p:sp>
        <p:nvSpPr>
          <p:cNvPr id="10" name="Text 7"/>
          <p:cNvSpPr txBox="1"/>
          <p:nvPr/>
        </p:nvSpPr>
        <p:spPr>
          <a:xfrm>
            <a:off x="2240280" y="1901952"/>
            <a:ext cx="1645920" cy="310896"/>
          </a:xfrm>
          <a:prstGeom prst="rect">
            <a:avLst/>
          </a:prstGeom>
          <a:noFill/>
          <a:ln/>
        </p:spPr>
        <p:txBody>
          <a:bodyPr wrap="square" lIns="0" tIns="0" rIns="0" bIns="0" rtlCol="0" anchor="ctr"/>
          <a:lstStyle/>
          <a:p>
            <a:pPr algn="ctr" indent="0" marL="0">
              <a:buNone/>
            </a:pPr>
            <a:r>
              <a:rPr lang="en-US" sz="1050" b="1" spc="100" kern="0" dirty="0">
                <a:solidFill>
                  <a:srgbClr val="B04A16"/>
                </a:solidFill>
                <a:latin typeface="Calibri" pitchFamily="34" charset="0"/>
                <a:ea typeface="Calibri" pitchFamily="34" charset="-122"/>
                <a:cs typeface="Calibri" pitchFamily="34" charset="-120"/>
              </a:rPr>
              <a:t>KEIN KLARER USP</a:t>
            </a:r>
            <a:endParaRPr lang="en-US" sz="1050" dirty="0"/>
          </a:p>
        </p:txBody>
      </p:sp>
      <p:sp>
        <p:nvSpPr>
          <p:cNvPr id="11" name="Text 8"/>
          <p:cNvSpPr txBox="1"/>
          <p:nvPr/>
        </p:nvSpPr>
        <p:spPr>
          <a:xfrm>
            <a:off x="777240" y="2487168"/>
            <a:ext cx="3108960" cy="594360"/>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Claim-Bibliothek statt Greenhushing</a:t>
            </a:r>
            <a:endParaRPr lang="en-US" sz="1600" dirty="0"/>
          </a:p>
        </p:txBody>
      </p:sp>
      <p:sp>
        <p:nvSpPr>
          <p:cNvPr id="12" name="Text 9"/>
          <p:cNvSpPr txBox="1"/>
          <p:nvPr/>
        </p:nvSpPr>
        <p:spPr>
          <a:xfrm>
            <a:off x="777240" y="3127248"/>
            <a:ext cx="3108960" cy="128016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Unterstützung beim Aufbau freigegebener Formulierungen, damit Unternehmen weiter belegt kommunizieren.</a:t>
            </a:r>
            <a:endParaRPr lang="en-US" sz="1300" dirty="0"/>
          </a:p>
        </p:txBody>
      </p:sp>
      <p:sp>
        <p:nvSpPr>
          <p:cNvPr id="13" name="Shape 10"/>
          <p:cNvSpPr/>
          <p:nvPr/>
        </p:nvSpPr>
        <p:spPr>
          <a:xfrm>
            <a:off x="4311396" y="1572768"/>
            <a:ext cx="3566160" cy="2926080"/>
          </a:xfrm>
          <a:prstGeom prst="roundRect">
            <a:avLst>
              <a:gd name="adj" fmla="val 3125"/>
            </a:avLst>
          </a:prstGeom>
          <a:solidFill>
            <a:srgbClr val="F3F5F7"/>
          </a:solidFill>
          <a:ln w="9525">
            <a:solidFill>
              <a:srgbClr val="F3F5F7"/>
            </a:solidFill>
            <a:prstDash val="solid"/>
          </a:ln>
        </p:spPr>
      </p:sp>
      <p:sp>
        <p:nvSpPr>
          <p:cNvPr id="14" name="Shape 11"/>
          <p:cNvSpPr/>
          <p:nvPr/>
        </p:nvSpPr>
        <p:spPr>
          <a:xfrm>
            <a:off x="4539996" y="1801368"/>
            <a:ext cx="493776" cy="493776"/>
          </a:xfrm>
          <a:prstGeom prst="ellipse">
            <a:avLst/>
          </a:prstGeom>
          <a:solidFill>
            <a:srgbClr val="1F6F63"/>
          </a:solidFill>
          <a:ln w="6350">
            <a:solidFill>
              <a:srgbClr val="1F6F63"/>
            </a:solidFill>
            <a:prstDash val="solid"/>
          </a:ln>
        </p:spPr>
      </p:sp>
      <p:pic>
        <p:nvPicPr>
          <p:cNvPr id="15" name="Image 1" descr="preencoded.png">    </p:cNvPr>
          <p:cNvPicPr>
            <a:picLocks noChangeAspect="1"/>
          </p:cNvPicPr>
          <p:nvPr/>
        </p:nvPicPr>
        <p:blipFill>
          <a:blip r:embed="rId2"/>
          <a:stretch>
            <a:fillRect/>
          </a:stretch>
        </p:blipFill>
        <p:spPr>
          <a:xfrm>
            <a:off x="4668378" y="1929750"/>
            <a:ext cx="237012" cy="237012"/>
          </a:xfrm>
          <a:prstGeom prst="rect">
            <a:avLst/>
          </a:prstGeom>
        </p:spPr>
      </p:pic>
      <p:sp>
        <p:nvSpPr>
          <p:cNvPr id="16" name="Shape 12"/>
          <p:cNvSpPr/>
          <p:nvPr/>
        </p:nvSpPr>
        <p:spPr>
          <a:xfrm>
            <a:off x="6003036" y="1901952"/>
            <a:ext cx="1645920" cy="310896"/>
          </a:xfrm>
          <a:prstGeom prst="roundRect">
            <a:avLst>
              <a:gd name="adj" fmla="val 50000"/>
            </a:avLst>
          </a:prstGeom>
          <a:solidFill>
            <a:srgbClr val="FBEEE4"/>
          </a:solidFill>
          <a:ln w="9525">
            <a:solidFill>
              <a:srgbClr val="B04A16"/>
            </a:solidFill>
            <a:prstDash val="solid"/>
          </a:ln>
        </p:spPr>
      </p:sp>
      <p:sp>
        <p:nvSpPr>
          <p:cNvPr id="17" name="Text 13"/>
          <p:cNvSpPr txBox="1"/>
          <p:nvPr/>
        </p:nvSpPr>
        <p:spPr>
          <a:xfrm>
            <a:off x="6003036" y="1901952"/>
            <a:ext cx="1645920" cy="310896"/>
          </a:xfrm>
          <a:prstGeom prst="rect">
            <a:avLst/>
          </a:prstGeom>
          <a:noFill/>
          <a:ln/>
        </p:spPr>
        <p:txBody>
          <a:bodyPr wrap="square" lIns="0" tIns="0" rIns="0" bIns="0" rtlCol="0" anchor="ctr"/>
          <a:lstStyle/>
          <a:p>
            <a:pPr algn="ctr" indent="0" marL="0">
              <a:buNone/>
            </a:pPr>
            <a:r>
              <a:rPr lang="en-US" sz="1050" b="1" spc="100" kern="0" dirty="0">
                <a:solidFill>
                  <a:srgbClr val="B04A16"/>
                </a:solidFill>
                <a:latin typeface="Calibri" pitchFamily="34" charset="0"/>
                <a:ea typeface="Calibri" pitchFamily="34" charset="-122"/>
                <a:cs typeface="Calibri" pitchFamily="34" charset="-120"/>
              </a:rPr>
              <a:t>HOHER AUFWAND</a:t>
            </a:r>
            <a:endParaRPr lang="en-US" sz="1050" dirty="0"/>
          </a:p>
        </p:txBody>
      </p:sp>
      <p:sp>
        <p:nvSpPr>
          <p:cNvPr id="18" name="Text 14"/>
          <p:cNvSpPr txBox="1"/>
          <p:nvPr/>
        </p:nvSpPr>
        <p:spPr>
          <a:xfrm>
            <a:off x="4539996" y="2487168"/>
            <a:ext cx="3108960" cy="594360"/>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Verbindung mit einer Konsumentenstudie</a:t>
            </a:r>
            <a:endParaRPr lang="en-US" sz="1600" dirty="0"/>
          </a:p>
        </p:txBody>
      </p:sp>
      <p:sp>
        <p:nvSpPr>
          <p:cNvPr id="19" name="Text 15"/>
          <p:cNvSpPr txBox="1"/>
          <p:nvPr/>
        </p:nvSpPr>
        <p:spPr>
          <a:xfrm>
            <a:off x="4539996" y="3127248"/>
            <a:ext cx="3108960" cy="128016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Wo bringt eine tatsächliche Verbesserung der Nachhaltigkeitsmaßnahmen und ihrer Kommunikation Mehrwert?</a:t>
            </a:r>
            <a:endParaRPr lang="en-US" sz="1300" dirty="0"/>
          </a:p>
        </p:txBody>
      </p:sp>
      <p:sp>
        <p:nvSpPr>
          <p:cNvPr id="20" name="Shape 16"/>
          <p:cNvSpPr/>
          <p:nvPr/>
        </p:nvSpPr>
        <p:spPr>
          <a:xfrm>
            <a:off x="8074152" y="1572768"/>
            <a:ext cx="3566160" cy="2926080"/>
          </a:xfrm>
          <a:prstGeom prst="roundRect">
            <a:avLst>
              <a:gd name="adj" fmla="val 3125"/>
            </a:avLst>
          </a:prstGeom>
          <a:solidFill>
            <a:srgbClr val="F3F5F7"/>
          </a:solidFill>
          <a:ln w="9525">
            <a:solidFill>
              <a:srgbClr val="F3F5F7"/>
            </a:solidFill>
            <a:prstDash val="solid"/>
          </a:ln>
        </p:spPr>
      </p:sp>
      <p:sp>
        <p:nvSpPr>
          <p:cNvPr id="21" name="Shape 17"/>
          <p:cNvSpPr/>
          <p:nvPr/>
        </p:nvSpPr>
        <p:spPr>
          <a:xfrm>
            <a:off x="8302752" y="1801368"/>
            <a:ext cx="493776" cy="493776"/>
          </a:xfrm>
          <a:prstGeom prst="ellipse">
            <a:avLst/>
          </a:prstGeom>
          <a:solidFill>
            <a:srgbClr val="1F6F63"/>
          </a:solidFill>
          <a:ln w="6350">
            <a:solidFill>
              <a:srgbClr val="1F6F63"/>
            </a:solidFill>
            <a:prstDash val="solid"/>
          </a:ln>
        </p:spPr>
      </p:sp>
      <p:pic>
        <p:nvPicPr>
          <p:cNvPr id="22" name="Image 2" descr="preencoded.png">    </p:cNvPr>
          <p:cNvPicPr>
            <a:picLocks noChangeAspect="1"/>
          </p:cNvPicPr>
          <p:nvPr/>
        </p:nvPicPr>
        <p:blipFill>
          <a:blip r:embed="rId3"/>
          <a:stretch>
            <a:fillRect/>
          </a:stretch>
        </p:blipFill>
        <p:spPr>
          <a:xfrm>
            <a:off x="8431134" y="1929750"/>
            <a:ext cx="237012" cy="237012"/>
          </a:xfrm>
          <a:prstGeom prst="rect">
            <a:avLst/>
          </a:prstGeom>
        </p:spPr>
      </p:pic>
      <p:sp>
        <p:nvSpPr>
          <p:cNvPr id="23" name="Shape 18"/>
          <p:cNvSpPr/>
          <p:nvPr/>
        </p:nvSpPr>
        <p:spPr>
          <a:xfrm>
            <a:off x="9765792" y="1901952"/>
            <a:ext cx="1645920" cy="310896"/>
          </a:xfrm>
          <a:prstGeom prst="roundRect">
            <a:avLst>
              <a:gd name="adj" fmla="val 50000"/>
            </a:avLst>
          </a:prstGeom>
          <a:solidFill>
            <a:srgbClr val="E4F1EE"/>
          </a:solidFill>
          <a:ln w="9525">
            <a:solidFill>
              <a:srgbClr val="1F6F63"/>
            </a:solidFill>
            <a:prstDash val="solid"/>
          </a:ln>
        </p:spPr>
      </p:sp>
      <p:sp>
        <p:nvSpPr>
          <p:cNvPr id="24" name="Text 19"/>
          <p:cNvSpPr txBox="1"/>
          <p:nvPr/>
        </p:nvSpPr>
        <p:spPr>
          <a:xfrm>
            <a:off x="9765792" y="1901952"/>
            <a:ext cx="1645920" cy="310896"/>
          </a:xfrm>
          <a:prstGeom prst="rect">
            <a:avLst/>
          </a:prstGeom>
          <a:noFill/>
          <a:ln/>
        </p:spPr>
        <p:txBody>
          <a:bodyPr wrap="square" lIns="0" tIns="0" rIns="0" bIns="0" rtlCol="0" anchor="ctr"/>
          <a:lstStyle/>
          <a:p>
            <a:pPr algn="ctr" indent="0" marL="0">
              <a:buNone/>
            </a:pPr>
            <a:r>
              <a:rPr lang="en-US" sz="1050" b="1" spc="100" kern="0" dirty="0">
                <a:solidFill>
                  <a:srgbClr val="1F6F63"/>
                </a:solidFill>
                <a:latin typeface="Calibri" pitchFamily="34" charset="0"/>
                <a:ea typeface="Calibri" pitchFamily="34" charset="-122"/>
                <a:cs typeface="Calibri" pitchFamily="34" charset="-120"/>
              </a:rPr>
              <a:t>RELEVANT</a:t>
            </a:r>
            <a:endParaRPr lang="en-US" sz="1050" dirty="0"/>
          </a:p>
        </p:txBody>
      </p:sp>
      <p:sp>
        <p:nvSpPr>
          <p:cNvPr id="25" name="Text 20"/>
          <p:cNvSpPr txBox="1"/>
          <p:nvPr/>
        </p:nvSpPr>
        <p:spPr>
          <a:xfrm>
            <a:off x="8302752" y="2487168"/>
            <a:ext cx="3108960" cy="594360"/>
          </a:xfrm>
          <a:prstGeom prst="rect">
            <a:avLst/>
          </a:prstGeom>
          <a:noFill/>
          <a:ln/>
        </p:spPr>
        <p:txBody>
          <a:bodyPr wrap="square" lIns="0" tIns="0" rIns="0" bIns="0" rtlCol="0" anchor="t"/>
          <a:lstStyle/>
          <a:p>
            <a:pPr indent="0" marL="0">
              <a:buNone/>
            </a:pPr>
            <a:r>
              <a:rPr lang="en-US" sz="1600" b="1" dirty="0">
                <a:solidFill>
                  <a:srgbClr val="13233A"/>
                </a:solidFill>
                <a:latin typeface="Calibri" pitchFamily="34" charset="0"/>
                <a:ea typeface="Calibri" pitchFamily="34" charset="-122"/>
                <a:cs typeface="Calibri" pitchFamily="34" charset="-120"/>
              </a:rPr>
              <a:t>Grundlegender Nachhaltigkeitsansatz</a:t>
            </a:r>
            <a:endParaRPr lang="en-US" sz="1600" dirty="0"/>
          </a:p>
        </p:txBody>
      </p:sp>
      <p:sp>
        <p:nvSpPr>
          <p:cNvPr id="26" name="Text 21"/>
          <p:cNvSpPr txBox="1"/>
          <p:nvPr/>
        </p:nvSpPr>
        <p:spPr>
          <a:xfrm>
            <a:off x="8302752" y="3127248"/>
            <a:ext cx="3108960" cy="1280160"/>
          </a:xfrm>
          <a:prstGeom prst="rect">
            <a:avLst/>
          </a:prstGeom>
          <a:noFill/>
          <a:ln/>
        </p:spPr>
        <p:txBody>
          <a:bodyPr wrap="square" lIns="0" tIns="0" rIns="0" bIns="0" rtlCol="0" anchor="t"/>
          <a:lstStyle/>
          <a:p>
            <a:pPr indent="0" marL="0">
              <a:buNone/>
            </a:pPr>
            <a:r>
              <a:rPr lang="en-US" sz="1300" dirty="0">
                <a:solidFill>
                  <a:srgbClr val="4A5A6C"/>
                </a:solidFill>
                <a:latin typeface="Calibri" pitchFamily="34" charset="0"/>
                <a:ea typeface="Calibri" pitchFamily="34" charset="-122"/>
                <a:cs typeface="Calibri" pitchFamily="34" charset="-120"/>
              </a:rPr>
              <a:t>Welche Claims werden erreicht, welche nicht? Verknüpfung von Unternehmen, Kunde und Nachhaltigkeitsstrategie.</a:t>
            </a:r>
            <a:endParaRPr lang="en-US" sz="1300" dirty="0"/>
          </a:p>
        </p:txBody>
      </p:sp>
      <p:sp>
        <p:nvSpPr>
          <p:cNvPr id="27" name="Text 22"/>
          <p:cNvSpPr txBox="1"/>
          <p:nvPr/>
        </p:nvSpPr>
        <p:spPr>
          <a:xfrm>
            <a:off x="548640" y="4681728"/>
            <a:ext cx="548640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IDEEN ZUR VERTIEFUNG</a:t>
            </a:r>
            <a:endParaRPr lang="en-US" sz="1200" dirty="0"/>
          </a:p>
        </p:txBody>
      </p:sp>
      <p:sp>
        <p:nvSpPr>
          <p:cNvPr id="28" name="Shape 23"/>
          <p:cNvSpPr/>
          <p:nvPr/>
        </p:nvSpPr>
        <p:spPr>
          <a:xfrm>
            <a:off x="548640" y="5001768"/>
            <a:ext cx="5440680" cy="1115568"/>
          </a:xfrm>
          <a:prstGeom prst="roundRect">
            <a:avLst>
              <a:gd name="adj" fmla="val 8197"/>
            </a:avLst>
          </a:prstGeom>
          <a:solidFill>
            <a:srgbClr val="FFFFFF"/>
          </a:solidFill>
          <a:ln w="9525">
            <a:solidFill>
              <a:srgbClr val="D9DDE2"/>
            </a:solidFill>
            <a:prstDash val="solid"/>
          </a:ln>
        </p:spPr>
      </p:sp>
      <p:sp>
        <p:nvSpPr>
          <p:cNvPr id="29" name="Shape 24"/>
          <p:cNvSpPr/>
          <p:nvPr/>
        </p:nvSpPr>
        <p:spPr>
          <a:xfrm>
            <a:off x="731520" y="5303520"/>
            <a:ext cx="475488" cy="475488"/>
          </a:xfrm>
          <a:prstGeom prst="ellipse">
            <a:avLst/>
          </a:prstGeom>
          <a:solidFill>
            <a:srgbClr val="13233A"/>
          </a:solidFill>
          <a:ln w="6350">
            <a:solidFill>
              <a:srgbClr val="13233A"/>
            </a:solidFill>
            <a:prstDash val="solid"/>
          </a:ln>
        </p:spPr>
      </p:sp>
      <p:pic>
        <p:nvPicPr>
          <p:cNvPr id="30" name="Image 3" descr="preencoded.png">    </p:cNvPr>
          <p:cNvPicPr>
            <a:picLocks noChangeAspect="1"/>
          </p:cNvPicPr>
          <p:nvPr/>
        </p:nvPicPr>
        <p:blipFill>
          <a:blip r:embed="rId4"/>
          <a:stretch>
            <a:fillRect/>
          </a:stretch>
        </p:blipFill>
        <p:spPr>
          <a:xfrm>
            <a:off x="855147" y="5427147"/>
            <a:ext cx="228234" cy="228234"/>
          </a:xfrm>
          <a:prstGeom prst="rect">
            <a:avLst/>
          </a:prstGeom>
        </p:spPr>
      </p:pic>
      <p:sp>
        <p:nvSpPr>
          <p:cNvPr id="31" name="Text 25"/>
          <p:cNvSpPr txBox="1"/>
          <p:nvPr/>
        </p:nvSpPr>
        <p:spPr>
          <a:xfrm>
            <a:off x="1371600" y="5093208"/>
            <a:ext cx="4434840" cy="932688"/>
          </a:xfrm>
          <a:prstGeom prst="rect">
            <a:avLst/>
          </a:prstGeom>
          <a:noFill/>
          <a:ln/>
        </p:spPr>
        <p:txBody>
          <a:bodyPr wrap="square" lIns="0" tIns="0" rIns="0" bIns="0" rtlCol="0" anchor="ctr"/>
          <a:lstStyle/>
          <a:p>
            <a:pPr indent="0" marL="0">
              <a:buNone/>
            </a:pPr>
            <a:r>
              <a:rPr lang="en-US" sz="1400" b="1" dirty="0">
                <a:solidFill>
                  <a:srgbClr val="13233A"/>
                </a:solidFill>
                <a:latin typeface="Calibri" pitchFamily="34" charset="0"/>
                <a:ea typeface="Calibri" pitchFamily="34" charset="-122"/>
                <a:cs typeface="Calibri" pitchFamily="34" charset="-120"/>
              </a:rPr>
              <a:t>Messbare Verbesserungen analysieren</a:t>
            </a:r>
            <a:endParaRPr lang="en-US" sz="1400" dirty="0"/>
          </a:p>
          <a:p>
            <a:pPr indent="0" marL="0">
              <a:buNone/>
            </a:pPr>
            <a:r>
              <a:rPr lang="en-US" sz="1250" dirty="0">
                <a:solidFill>
                  <a:srgbClr val="4A5A6C"/>
                </a:solidFill>
                <a:latin typeface="Calibri" pitchFamily="34" charset="0"/>
                <a:ea typeface="Calibri" pitchFamily="34" charset="-122"/>
                <a:cs typeface="Calibri" pitchFamily="34" charset="-120"/>
              </a:rPr>
              <a:t>Materialreduktion, bessere Recyclingfähigkeit, Einsatz von Rezyklaten (anknüpfend an Simon-Kucher)</a:t>
            </a:r>
            <a:endParaRPr lang="en-US" sz="1400" dirty="0"/>
          </a:p>
        </p:txBody>
      </p:sp>
      <p:sp>
        <p:nvSpPr>
          <p:cNvPr id="32" name="Shape 26"/>
          <p:cNvSpPr/>
          <p:nvPr/>
        </p:nvSpPr>
        <p:spPr>
          <a:xfrm>
            <a:off x="6199632" y="5001768"/>
            <a:ext cx="5440680" cy="1115568"/>
          </a:xfrm>
          <a:prstGeom prst="roundRect">
            <a:avLst>
              <a:gd name="adj" fmla="val 8197"/>
            </a:avLst>
          </a:prstGeom>
          <a:solidFill>
            <a:srgbClr val="FFFFFF"/>
          </a:solidFill>
          <a:ln w="9525">
            <a:solidFill>
              <a:srgbClr val="D9DDE2"/>
            </a:solidFill>
            <a:prstDash val="solid"/>
          </a:ln>
        </p:spPr>
      </p:sp>
      <p:sp>
        <p:nvSpPr>
          <p:cNvPr id="33" name="Shape 27"/>
          <p:cNvSpPr/>
          <p:nvPr/>
        </p:nvSpPr>
        <p:spPr>
          <a:xfrm>
            <a:off x="6382512" y="5303520"/>
            <a:ext cx="475488" cy="475488"/>
          </a:xfrm>
          <a:prstGeom prst="ellipse">
            <a:avLst/>
          </a:prstGeom>
          <a:solidFill>
            <a:srgbClr val="13233A"/>
          </a:solidFill>
          <a:ln w="6350">
            <a:solidFill>
              <a:srgbClr val="13233A"/>
            </a:solidFill>
            <a:prstDash val="solid"/>
          </a:ln>
        </p:spPr>
      </p:sp>
      <p:pic>
        <p:nvPicPr>
          <p:cNvPr id="34" name="Image 4" descr="preencoded.png">    </p:cNvPr>
          <p:cNvPicPr>
            <a:picLocks noChangeAspect="1"/>
          </p:cNvPicPr>
          <p:nvPr/>
        </p:nvPicPr>
        <p:blipFill>
          <a:blip r:embed="rId5"/>
          <a:stretch>
            <a:fillRect/>
          </a:stretch>
        </p:blipFill>
        <p:spPr>
          <a:xfrm>
            <a:off x="6506139" y="5427147"/>
            <a:ext cx="228234" cy="228234"/>
          </a:xfrm>
          <a:prstGeom prst="rect">
            <a:avLst/>
          </a:prstGeom>
        </p:spPr>
      </p:pic>
      <p:sp>
        <p:nvSpPr>
          <p:cNvPr id="35" name="Text 28"/>
          <p:cNvSpPr txBox="1"/>
          <p:nvPr/>
        </p:nvSpPr>
        <p:spPr>
          <a:xfrm>
            <a:off x="7022592" y="5093208"/>
            <a:ext cx="4434840" cy="932688"/>
          </a:xfrm>
          <a:prstGeom prst="rect">
            <a:avLst/>
          </a:prstGeom>
          <a:noFill/>
          <a:ln/>
        </p:spPr>
        <p:txBody>
          <a:bodyPr wrap="square" lIns="0" tIns="0" rIns="0" bIns="0" rtlCol="0" anchor="ctr"/>
          <a:lstStyle/>
          <a:p>
            <a:pPr indent="0" marL="0">
              <a:buNone/>
            </a:pPr>
            <a:r>
              <a:rPr lang="en-US" sz="1400" b="1" dirty="0">
                <a:solidFill>
                  <a:srgbClr val="13233A"/>
                </a:solidFill>
                <a:latin typeface="Calibri" pitchFamily="34" charset="0"/>
                <a:ea typeface="Calibri" pitchFamily="34" charset="-122"/>
                <a:cs typeface="Calibri" pitchFamily="34" charset="-120"/>
              </a:rPr>
              <a:t>Wertschöpfungskette prüfen</a:t>
            </a:r>
            <a:endParaRPr lang="en-US" sz="1400" dirty="0"/>
          </a:p>
          <a:p>
            <a:pPr indent="0" marL="0">
              <a:buNone/>
            </a:pPr>
            <a:r>
              <a:rPr lang="en-US" sz="1250" dirty="0">
                <a:solidFill>
                  <a:srgbClr val="4A5A6C"/>
                </a:solidFill>
                <a:latin typeface="Calibri" pitchFamily="34" charset="0"/>
                <a:ea typeface="Calibri" pitchFamily="34" charset="-122"/>
                <a:cs typeface="Calibri" pitchFamily="34" charset="-120"/>
              </a:rPr>
              <a:t>Mögliche Problematiken anhand identifizierter unzulässiger Green Claims analysieren (anknüpfend an Deloitte)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3A"/>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6CCBB8"/>
                </a:solidFill>
                <a:latin typeface="Calibri" pitchFamily="34" charset="0"/>
                <a:ea typeface="Calibri" pitchFamily="34" charset="-122"/>
                <a:cs typeface="Calibri" pitchFamily="34" charset="-120"/>
              </a:rPr>
              <a:t>FAZIT</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Keine Vorreiterposition: Es zählt der Zeitvorsprung</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C9D6E3"/>
                </a:solidFill>
                <a:latin typeface="Calibri" pitchFamily="34" charset="0"/>
                <a:ea typeface="Calibri" pitchFamily="34" charset="-122"/>
                <a:cs typeface="Calibri" pitchFamily="34" charset="-120"/>
              </a:rPr>
              <a:t>Quelle: eigene Analyse (Desk-Recherche, Stand 29.09.2026); Kernangebot als Skizze</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C9D6E3"/>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572768"/>
            <a:ext cx="3566160" cy="1874520"/>
          </a:xfrm>
          <a:prstGeom prst="roundRect">
            <a:avLst>
              <a:gd name="adj" fmla="val 4878"/>
            </a:avLst>
          </a:prstGeom>
          <a:solidFill>
            <a:srgbClr val="1B2E47"/>
          </a:solidFill>
          <a:ln w="9525">
            <a:solidFill>
              <a:srgbClr val="3C5570"/>
            </a:solidFill>
            <a:prstDash val="solid"/>
          </a:ln>
        </p:spPr>
      </p:sp>
      <p:sp>
        <p:nvSpPr>
          <p:cNvPr id="7" name="Shape 5"/>
          <p:cNvSpPr/>
          <p:nvPr/>
        </p:nvSpPr>
        <p:spPr>
          <a:xfrm>
            <a:off x="777240" y="1801368"/>
            <a:ext cx="475488" cy="475488"/>
          </a:xfrm>
          <a:prstGeom prst="ellipse">
            <a:avLst/>
          </a:prstGeom>
          <a:solidFill>
            <a:srgbClr val="1F6F63"/>
          </a:solidFill>
          <a:ln w="6350">
            <a:solidFill>
              <a:srgbClr val="1F6F63"/>
            </a:solidFill>
            <a:prstDash val="solid"/>
          </a:ln>
        </p:spPr>
      </p:sp>
      <p:pic>
        <p:nvPicPr>
          <p:cNvPr id="8" name="Image 0" descr="preencoded.png">    </p:cNvPr>
          <p:cNvPicPr>
            <a:picLocks noChangeAspect="1"/>
          </p:cNvPicPr>
          <p:nvPr/>
        </p:nvPicPr>
        <p:blipFill>
          <a:blip r:embed="rId1"/>
          <a:stretch>
            <a:fillRect/>
          </a:stretch>
        </p:blipFill>
        <p:spPr>
          <a:xfrm>
            <a:off x="900867" y="1924995"/>
            <a:ext cx="228234" cy="228234"/>
          </a:xfrm>
          <a:prstGeom prst="rect">
            <a:avLst/>
          </a:prstGeom>
        </p:spPr>
      </p:pic>
      <p:sp>
        <p:nvSpPr>
          <p:cNvPr id="9" name="Text 6"/>
          <p:cNvSpPr txBox="1"/>
          <p:nvPr/>
        </p:nvSpPr>
        <p:spPr>
          <a:xfrm>
            <a:off x="1417320" y="1755648"/>
            <a:ext cx="251460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Keine strukturellen Vorreiterpositionen</a:t>
            </a:r>
            <a:endParaRPr lang="en-US" sz="1500" dirty="0"/>
          </a:p>
        </p:txBody>
      </p:sp>
      <p:sp>
        <p:nvSpPr>
          <p:cNvPr id="10" name="Text 7"/>
          <p:cNvSpPr txBox="1"/>
          <p:nvPr/>
        </p:nvSpPr>
        <p:spPr>
          <a:xfrm>
            <a:off x="777240" y="2441448"/>
            <a:ext cx="3108960" cy="91440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In der Recherche war kein Haus strukturell vorne.</a:t>
            </a:r>
            <a:endParaRPr lang="en-US" sz="1300" dirty="0"/>
          </a:p>
        </p:txBody>
      </p:sp>
      <p:sp>
        <p:nvSpPr>
          <p:cNvPr id="11" name="Shape 8"/>
          <p:cNvSpPr/>
          <p:nvPr/>
        </p:nvSpPr>
        <p:spPr>
          <a:xfrm>
            <a:off x="4311396" y="1572768"/>
            <a:ext cx="3566160" cy="1874520"/>
          </a:xfrm>
          <a:prstGeom prst="roundRect">
            <a:avLst>
              <a:gd name="adj" fmla="val 4878"/>
            </a:avLst>
          </a:prstGeom>
          <a:solidFill>
            <a:srgbClr val="1B2E47"/>
          </a:solidFill>
          <a:ln w="9525">
            <a:solidFill>
              <a:srgbClr val="3C5570"/>
            </a:solidFill>
            <a:prstDash val="solid"/>
          </a:ln>
        </p:spPr>
      </p:sp>
      <p:sp>
        <p:nvSpPr>
          <p:cNvPr id="12" name="Shape 9"/>
          <p:cNvSpPr/>
          <p:nvPr/>
        </p:nvSpPr>
        <p:spPr>
          <a:xfrm>
            <a:off x="4539996" y="1801368"/>
            <a:ext cx="475488" cy="475488"/>
          </a:xfrm>
          <a:prstGeom prst="ellipse">
            <a:avLst/>
          </a:prstGeom>
          <a:solidFill>
            <a:srgbClr val="1F6F63"/>
          </a:solidFill>
          <a:ln w="6350">
            <a:solidFill>
              <a:srgbClr val="1F6F63"/>
            </a:solidFill>
            <a:prstDash val="solid"/>
          </a:ln>
        </p:spPr>
      </p:sp>
      <p:pic>
        <p:nvPicPr>
          <p:cNvPr id="13" name="Image 1" descr="preencoded.png">    </p:cNvPr>
          <p:cNvPicPr>
            <a:picLocks noChangeAspect="1"/>
          </p:cNvPicPr>
          <p:nvPr/>
        </p:nvPicPr>
        <p:blipFill>
          <a:blip r:embed="rId2"/>
          <a:stretch>
            <a:fillRect/>
          </a:stretch>
        </p:blipFill>
        <p:spPr>
          <a:xfrm>
            <a:off x="4663623" y="1924995"/>
            <a:ext cx="228234" cy="228234"/>
          </a:xfrm>
          <a:prstGeom prst="rect">
            <a:avLst/>
          </a:prstGeom>
        </p:spPr>
      </p:pic>
      <p:sp>
        <p:nvSpPr>
          <p:cNvPr id="14" name="Text 10"/>
          <p:cNvSpPr txBox="1"/>
          <p:nvPr/>
        </p:nvSpPr>
        <p:spPr>
          <a:xfrm>
            <a:off x="5180076" y="1755648"/>
            <a:ext cx="251460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Zeitvorsprung und Begleitung</a:t>
            </a:r>
            <a:endParaRPr lang="en-US" sz="1500" dirty="0"/>
          </a:p>
        </p:txBody>
      </p:sp>
      <p:sp>
        <p:nvSpPr>
          <p:cNvPr id="15" name="Text 11"/>
          <p:cNvSpPr txBox="1"/>
          <p:nvPr/>
        </p:nvSpPr>
        <p:spPr>
          <a:xfrm>
            <a:off x="4539996" y="2441448"/>
            <a:ext cx="3108960" cy="91440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Es geht um Tempo und um die Begleitung der Umsetzung in allen berührten Bereichen.</a:t>
            </a:r>
            <a:endParaRPr lang="en-US" sz="1300" dirty="0"/>
          </a:p>
        </p:txBody>
      </p:sp>
      <p:sp>
        <p:nvSpPr>
          <p:cNvPr id="16" name="Shape 12"/>
          <p:cNvSpPr/>
          <p:nvPr/>
        </p:nvSpPr>
        <p:spPr>
          <a:xfrm>
            <a:off x="8074152" y="1572768"/>
            <a:ext cx="3566160" cy="1874520"/>
          </a:xfrm>
          <a:prstGeom prst="roundRect">
            <a:avLst>
              <a:gd name="adj" fmla="val 4878"/>
            </a:avLst>
          </a:prstGeom>
          <a:solidFill>
            <a:srgbClr val="1B2E47"/>
          </a:solidFill>
          <a:ln w="9525">
            <a:solidFill>
              <a:srgbClr val="3C5570"/>
            </a:solidFill>
            <a:prstDash val="solid"/>
          </a:ln>
        </p:spPr>
      </p:sp>
      <p:sp>
        <p:nvSpPr>
          <p:cNvPr id="17" name="Shape 13"/>
          <p:cNvSpPr/>
          <p:nvPr/>
        </p:nvSpPr>
        <p:spPr>
          <a:xfrm>
            <a:off x="8302752" y="1801368"/>
            <a:ext cx="475488" cy="475488"/>
          </a:xfrm>
          <a:prstGeom prst="ellipse">
            <a:avLst/>
          </a:prstGeom>
          <a:solidFill>
            <a:srgbClr val="1F6F63"/>
          </a:solidFill>
          <a:ln w="6350">
            <a:solidFill>
              <a:srgbClr val="1F6F63"/>
            </a:solidFill>
            <a:prstDash val="solid"/>
          </a:ln>
        </p:spPr>
      </p:sp>
      <p:pic>
        <p:nvPicPr>
          <p:cNvPr id="18" name="Image 2" descr="preencoded.png">    </p:cNvPr>
          <p:cNvPicPr>
            <a:picLocks noChangeAspect="1"/>
          </p:cNvPicPr>
          <p:nvPr/>
        </p:nvPicPr>
        <p:blipFill>
          <a:blip r:embed="rId3"/>
          <a:stretch>
            <a:fillRect/>
          </a:stretch>
        </p:blipFill>
        <p:spPr>
          <a:xfrm>
            <a:off x="8426379" y="1924995"/>
            <a:ext cx="228234" cy="228234"/>
          </a:xfrm>
          <a:prstGeom prst="rect">
            <a:avLst/>
          </a:prstGeom>
        </p:spPr>
      </p:pic>
      <p:sp>
        <p:nvSpPr>
          <p:cNvPr id="19" name="Text 14"/>
          <p:cNvSpPr txBox="1"/>
          <p:nvPr/>
        </p:nvSpPr>
        <p:spPr>
          <a:xfrm>
            <a:off x="8942832" y="1755648"/>
            <a:ext cx="251460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Claim-Bibliothek gegen Greenhushing</a:t>
            </a:r>
            <a:endParaRPr lang="en-US" sz="1500" dirty="0"/>
          </a:p>
        </p:txBody>
      </p:sp>
      <p:sp>
        <p:nvSpPr>
          <p:cNvPr id="20" name="Text 15"/>
          <p:cNvSpPr txBox="1"/>
          <p:nvPr/>
        </p:nvSpPr>
        <p:spPr>
          <a:xfrm>
            <a:off x="8302752" y="2441448"/>
            <a:ext cx="3108960" cy="91440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Unternehmen sollen belegt weiter kommunizieren können, statt zu verstummen.</a:t>
            </a:r>
            <a:endParaRPr lang="en-US" sz="1300" dirty="0"/>
          </a:p>
        </p:txBody>
      </p:sp>
      <p:sp>
        <p:nvSpPr>
          <p:cNvPr id="21" name="Text 16"/>
          <p:cNvSpPr txBox="1"/>
          <p:nvPr/>
        </p:nvSpPr>
        <p:spPr>
          <a:xfrm>
            <a:off x="548640" y="3749040"/>
            <a:ext cx="11064240" cy="320040"/>
          </a:xfrm>
          <a:prstGeom prst="rect">
            <a:avLst/>
          </a:prstGeom>
          <a:noFill/>
          <a:ln/>
        </p:spPr>
        <p:txBody>
          <a:bodyPr wrap="square" lIns="0" tIns="0" rIns="0" bIns="0" rtlCol="0" anchor="ctr"/>
          <a:lstStyle/>
          <a:p>
            <a:pPr indent="0" marL="0">
              <a:buNone/>
            </a:pPr>
            <a:r>
              <a:rPr lang="en-US" sz="1200" b="1" spc="100" kern="0" dirty="0">
                <a:solidFill>
                  <a:srgbClr val="F2A65A"/>
                </a:solidFill>
                <a:latin typeface="Calibri" pitchFamily="34" charset="0"/>
                <a:ea typeface="Calibri" pitchFamily="34" charset="-122"/>
                <a:cs typeface="Calibri" pitchFamily="34" charset="-120"/>
              </a:rPr>
              <a:t>KERNANGEBOT (SKIZZE): ALLE WICHTIGEN FAKTOREN VOM REIFEGRAD-CHECK BIS ZUM MONITORING</a:t>
            </a:r>
            <a:endParaRPr lang="en-US" sz="1200" dirty="0"/>
          </a:p>
        </p:txBody>
      </p:sp>
      <p:sp>
        <p:nvSpPr>
          <p:cNvPr id="22" name="Shape 17"/>
          <p:cNvSpPr/>
          <p:nvPr/>
        </p:nvSpPr>
        <p:spPr>
          <a:xfrm>
            <a:off x="548640" y="4206240"/>
            <a:ext cx="1938528" cy="1143000"/>
          </a:xfrm>
          <a:prstGeom prst="roundRect">
            <a:avLst>
              <a:gd name="adj" fmla="val 8000"/>
            </a:avLst>
          </a:prstGeom>
          <a:solidFill>
            <a:srgbClr val="1B2E47"/>
          </a:solidFill>
          <a:ln w="9525">
            <a:solidFill>
              <a:srgbClr val="3C5570"/>
            </a:solidFill>
            <a:prstDash val="solid"/>
          </a:ln>
        </p:spPr>
      </p:sp>
      <p:sp>
        <p:nvSpPr>
          <p:cNvPr id="23" name="Text 18"/>
          <p:cNvSpPr txBox="1"/>
          <p:nvPr/>
        </p:nvSpPr>
        <p:spPr>
          <a:xfrm>
            <a:off x="685800" y="4206240"/>
            <a:ext cx="16642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Reifegrad-Check</a:t>
            </a:r>
            <a:endParaRPr lang="en-US" sz="1400" dirty="0"/>
          </a:p>
        </p:txBody>
      </p:sp>
      <p:sp>
        <p:nvSpPr>
          <p:cNvPr id="24" name="Shape 19"/>
          <p:cNvSpPr/>
          <p:nvPr/>
        </p:nvSpPr>
        <p:spPr>
          <a:xfrm>
            <a:off x="2532888" y="4777740"/>
            <a:ext cx="258318" cy="0"/>
          </a:xfrm>
          <a:prstGeom prst="line">
            <a:avLst/>
          </a:prstGeom>
          <a:noFill/>
          <a:ln w="25400">
            <a:solidFill>
              <a:srgbClr val="6CCBB8"/>
            </a:solidFill>
            <a:prstDash val="solid"/>
            <a:tailEnd type="triangle"/>
          </a:ln>
        </p:spPr>
      </p:sp>
      <p:sp>
        <p:nvSpPr>
          <p:cNvPr id="25" name="Shape 20"/>
          <p:cNvSpPr/>
          <p:nvPr/>
        </p:nvSpPr>
        <p:spPr>
          <a:xfrm>
            <a:off x="2836926" y="4206240"/>
            <a:ext cx="1938528" cy="1143000"/>
          </a:xfrm>
          <a:prstGeom prst="roundRect">
            <a:avLst>
              <a:gd name="adj" fmla="val 8000"/>
            </a:avLst>
          </a:prstGeom>
          <a:solidFill>
            <a:srgbClr val="1B2E47"/>
          </a:solidFill>
          <a:ln w="9525">
            <a:solidFill>
              <a:srgbClr val="3C5570"/>
            </a:solidFill>
            <a:prstDash val="solid"/>
          </a:ln>
        </p:spPr>
      </p:sp>
      <p:sp>
        <p:nvSpPr>
          <p:cNvPr id="26" name="Text 21"/>
          <p:cNvSpPr txBox="1"/>
          <p:nvPr/>
        </p:nvSpPr>
        <p:spPr>
          <a:xfrm>
            <a:off x="2974086" y="4206240"/>
            <a:ext cx="16642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Bewertung der Claims</a:t>
            </a:r>
            <a:endParaRPr lang="en-US" sz="1400" dirty="0"/>
          </a:p>
        </p:txBody>
      </p:sp>
      <p:sp>
        <p:nvSpPr>
          <p:cNvPr id="27" name="Shape 22"/>
          <p:cNvSpPr/>
          <p:nvPr/>
        </p:nvSpPr>
        <p:spPr>
          <a:xfrm>
            <a:off x="4821174" y="4777740"/>
            <a:ext cx="258318" cy="0"/>
          </a:xfrm>
          <a:prstGeom prst="line">
            <a:avLst/>
          </a:prstGeom>
          <a:noFill/>
          <a:ln w="25400">
            <a:solidFill>
              <a:srgbClr val="6CCBB8"/>
            </a:solidFill>
            <a:prstDash val="solid"/>
            <a:tailEnd type="triangle"/>
          </a:ln>
        </p:spPr>
      </p:sp>
      <p:sp>
        <p:nvSpPr>
          <p:cNvPr id="28" name="Shape 23"/>
          <p:cNvSpPr/>
          <p:nvPr/>
        </p:nvSpPr>
        <p:spPr>
          <a:xfrm>
            <a:off x="5125212" y="4206240"/>
            <a:ext cx="1938528" cy="1143000"/>
          </a:xfrm>
          <a:prstGeom prst="roundRect">
            <a:avLst>
              <a:gd name="adj" fmla="val 8000"/>
            </a:avLst>
          </a:prstGeom>
          <a:solidFill>
            <a:srgbClr val="1B2E47"/>
          </a:solidFill>
          <a:ln w="9525">
            <a:solidFill>
              <a:srgbClr val="3C5570"/>
            </a:solidFill>
            <a:prstDash val="solid"/>
          </a:ln>
        </p:spPr>
      </p:sp>
      <p:sp>
        <p:nvSpPr>
          <p:cNvPr id="29" name="Text 24"/>
          <p:cNvSpPr txBox="1"/>
          <p:nvPr/>
        </p:nvSpPr>
        <p:spPr>
          <a:xfrm>
            <a:off x="5262372" y="4206240"/>
            <a:ext cx="16642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Belege und Claim-Bibliothek</a:t>
            </a:r>
            <a:endParaRPr lang="en-US" sz="1400" dirty="0"/>
          </a:p>
        </p:txBody>
      </p:sp>
      <p:sp>
        <p:nvSpPr>
          <p:cNvPr id="30" name="Shape 25"/>
          <p:cNvSpPr/>
          <p:nvPr/>
        </p:nvSpPr>
        <p:spPr>
          <a:xfrm>
            <a:off x="7109460" y="4777740"/>
            <a:ext cx="258318" cy="0"/>
          </a:xfrm>
          <a:prstGeom prst="line">
            <a:avLst/>
          </a:prstGeom>
          <a:noFill/>
          <a:ln w="25400">
            <a:solidFill>
              <a:srgbClr val="6CCBB8"/>
            </a:solidFill>
            <a:prstDash val="solid"/>
            <a:tailEnd type="triangle"/>
          </a:ln>
        </p:spPr>
      </p:sp>
      <p:sp>
        <p:nvSpPr>
          <p:cNvPr id="31" name="Shape 26"/>
          <p:cNvSpPr/>
          <p:nvPr/>
        </p:nvSpPr>
        <p:spPr>
          <a:xfrm>
            <a:off x="7413498" y="4206240"/>
            <a:ext cx="1938528" cy="1143000"/>
          </a:xfrm>
          <a:prstGeom prst="roundRect">
            <a:avLst>
              <a:gd name="adj" fmla="val 8000"/>
            </a:avLst>
          </a:prstGeom>
          <a:solidFill>
            <a:srgbClr val="1B2E47"/>
          </a:solidFill>
          <a:ln w="9525">
            <a:solidFill>
              <a:srgbClr val="3C5570"/>
            </a:solidFill>
            <a:prstDash val="solid"/>
          </a:ln>
        </p:spPr>
      </p:sp>
      <p:sp>
        <p:nvSpPr>
          <p:cNvPr id="32" name="Text 27"/>
          <p:cNvSpPr txBox="1"/>
          <p:nvPr/>
        </p:nvSpPr>
        <p:spPr>
          <a:xfrm>
            <a:off x="7550658" y="4206240"/>
            <a:ext cx="16642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Prozesse und Governance</a:t>
            </a:r>
            <a:endParaRPr lang="en-US" sz="1400" dirty="0"/>
          </a:p>
        </p:txBody>
      </p:sp>
      <p:sp>
        <p:nvSpPr>
          <p:cNvPr id="33" name="Shape 28"/>
          <p:cNvSpPr/>
          <p:nvPr/>
        </p:nvSpPr>
        <p:spPr>
          <a:xfrm>
            <a:off x="9397746" y="4777740"/>
            <a:ext cx="258318" cy="0"/>
          </a:xfrm>
          <a:prstGeom prst="line">
            <a:avLst/>
          </a:prstGeom>
          <a:noFill/>
          <a:ln w="25400">
            <a:solidFill>
              <a:srgbClr val="6CCBB8"/>
            </a:solidFill>
            <a:prstDash val="solid"/>
            <a:tailEnd type="triangle"/>
          </a:ln>
        </p:spPr>
      </p:sp>
      <p:sp>
        <p:nvSpPr>
          <p:cNvPr id="34" name="Shape 29"/>
          <p:cNvSpPr/>
          <p:nvPr/>
        </p:nvSpPr>
        <p:spPr>
          <a:xfrm>
            <a:off x="9701784" y="4206240"/>
            <a:ext cx="1938528" cy="1143000"/>
          </a:xfrm>
          <a:prstGeom prst="roundRect">
            <a:avLst>
              <a:gd name="adj" fmla="val 8000"/>
            </a:avLst>
          </a:prstGeom>
          <a:solidFill>
            <a:srgbClr val="1F6F63"/>
          </a:solidFill>
          <a:ln w="9525">
            <a:solidFill>
              <a:srgbClr val="1F6F63"/>
            </a:solidFill>
            <a:prstDash val="solid"/>
          </a:ln>
        </p:spPr>
      </p:sp>
      <p:sp>
        <p:nvSpPr>
          <p:cNvPr id="35" name="Text 30"/>
          <p:cNvSpPr txBox="1"/>
          <p:nvPr/>
        </p:nvSpPr>
        <p:spPr>
          <a:xfrm>
            <a:off x="9838944" y="4206240"/>
            <a:ext cx="16642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Laufendes Monitoring</a:t>
            </a:r>
            <a:endParaRPr lang="en-US" sz="1400" dirty="0"/>
          </a:p>
        </p:txBody>
      </p:sp>
      <p:sp>
        <p:nvSpPr>
          <p:cNvPr id="36" name="Text 31"/>
          <p:cNvSpPr txBox="1"/>
          <p:nvPr/>
        </p:nvSpPr>
        <p:spPr>
          <a:xfrm>
            <a:off x="548640" y="5532120"/>
            <a:ext cx="11064240" cy="365760"/>
          </a:xfrm>
          <a:prstGeom prst="rect">
            <a:avLst/>
          </a:prstGeom>
          <a:noFill/>
          <a:ln/>
        </p:spPr>
        <p:txBody>
          <a:bodyPr wrap="square" lIns="0" tIns="0" rIns="0" bIns="0" rtlCol="0" anchor="ctr"/>
          <a:lstStyle/>
          <a:p>
            <a:pPr indent="0" marL="0">
              <a:buNone/>
            </a:pPr>
            <a:r>
              <a:rPr lang="en-US" sz="1200" i="1" dirty="0">
                <a:solidFill>
                  <a:srgbClr val="C9D6E3"/>
                </a:solidFill>
                <a:latin typeface="Calibri" pitchFamily="34" charset="0"/>
                <a:ea typeface="Calibri" pitchFamily="34" charset="-122"/>
                <a:cs typeface="Calibri" pitchFamily="34" charset="-120"/>
              </a:rPr>
              <a:t>Skizze: Anfang und Ende sowie die Claim-Bibliothek stammen aus der Analyse, die Zwischenschritte aus der Marktübersicht auf Folie 10.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FÜR DAS DEBRIEFING</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Fünf Punkte zur Diskussion</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Quelle: abgeleitet aus Fazit, offenen Fragen und Kommentaren der Analyse</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00200"/>
            <a:ext cx="11091672" cy="713232"/>
          </a:xfrm>
          <a:prstGeom prst="roundRect">
            <a:avLst>
              <a:gd name="adj" fmla="val 12821"/>
            </a:avLst>
          </a:prstGeom>
          <a:solidFill>
            <a:srgbClr val="F3F5F7"/>
          </a:solidFill>
          <a:ln w="9525">
            <a:solidFill>
              <a:srgbClr val="F3F5F7"/>
            </a:solidFill>
            <a:prstDash val="solid"/>
          </a:ln>
        </p:spPr>
      </p:sp>
      <p:sp>
        <p:nvSpPr>
          <p:cNvPr id="7" name="Shape 5"/>
          <p:cNvSpPr/>
          <p:nvPr/>
        </p:nvSpPr>
        <p:spPr>
          <a:xfrm>
            <a:off x="749808" y="1719072"/>
            <a:ext cx="475488" cy="475488"/>
          </a:xfrm>
          <a:prstGeom prst="ellipse">
            <a:avLst/>
          </a:prstGeom>
          <a:solidFill>
            <a:srgbClr val="B04A16"/>
          </a:solidFill>
          <a:ln w="6350">
            <a:solidFill>
              <a:srgbClr val="B04A16"/>
            </a:solidFill>
            <a:prstDash val="solid"/>
          </a:ln>
        </p:spPr>
      </p:sp>
      <p:sp>
        <p:nvSpPr>
          <p:cNvPr id="8" name="Text 6"/>
          <p:cNvSpPr txBox="1"/>
          <p:nvPr/>
        </p:nvSpPr>
        <p:spPr>
          <a:xfrm>
            <a:off x="749808" y="171907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463040" y="1600200"/>
            <a:ext cx="3108960" cy="713232"/>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Kernangebot schneiden</a:t>
            </a:r>
            <a:endParaRPr lang="en-US" sz="1600" dirty="0"/>
          </a:p>
        </p:txBody>
      </p:sp>
      <p:sp>
        <p:nvSpPr>
          <p:cNvPr id="10" name="Text 8"/>
          <p:cNvSpPr txBox="1"/>
          <p:nvPr/>
        </p:nvSpPr>
        <p:spPr>
          <a:xfrm>
            <a:off x="4663440" y="1600200"/>
            <a:ext cx="6766560" cy="713232"/>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Welche Bausteine vom Reifegrad-Check bis zum Monitoring bieten wir an?</a:t>
            </a:r>
            <a:endParaRPr lang="en-US" sz="1500" dirty="0"/>
          </a:p>
        </p:txBody>
      </p:sp>
      <p:sp>
        <p:nvSpPr>
          <p:cNvPr id="11" name="Shape 9"/>
          <p:cNvSpPr/>
          <p:nvPr/>
        </p:nvSpPr>
        <p:spPr>
          <a:xfrm>
            <a:off x="548640" y="2441448"/>
            <a:ext cx="11091672" cy="713232"/>
          </a:xfrm>
          <a:prstGeom prst="roundRect">
            <a:avLst>
              <a:gd name="adj" fmla="val 12821"/>
            </a:avLst>
          </a:prstGeom>
          <a:solidFill>
            <a:srgbClr val="FFFFFF"/>
          </a:solidFill>
          <a:ln w="9525">
            <a:solidFill>
              <a:srgbClr val="D9DDE2"/>
            </a:solidFill>
            <a:prstDash val="solid"/>
          </a:ln>
        </p:spPr>
      </p:sp>
      <p:sp>
        <p:nvSpPr>
          <p:cNvPr id="12" name="Shape 10"/>
          <p:cNvSpPr/>
          <p:nvPr/>
        </p:nvSpPr>
        <p:spPr>
          <a:xfrm>
            <a:off x="749808" y="2560320"/>
            <a:ext cx="475488" cy="475488"/>
          </a:xfrm>
          <a:prstGeom prst="ellipse">
            <a:avLst/>
          </a:prstGeom>
          <a:solidFill>
            <a:srgbClr val="B04A16"/>
          </a:solidFill>
          <a:ln w="6350">
            <a:solidFill>
              <a:srgbClr val="B04A16"/>
            </a:solidFill>
            <a:prstDash val="solid"/>
          </a:ln>
        </p:spPr>
      </p:sp>
      <p:sp>
        <p:nvSpPr>
          <p:cNvPr id="13" name="Text 11"/>
          <p:cNvSpPr txBox="1"/>
          <p:nvPr/>
        </p:nvSpPr>
        <p:spPr>
          <a:xfrm>
            <a:off x="749808" y="25603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1463040" y="2441448"/>
            <a:ext cx="3108960" cy="713232"/>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Zeitvorsprung nutzen</a:t>
            </a:r>
            <a:endParaRPr lang="en-US" sz="1600" dirty="0"/>
          </a:p>
        </p:txBody>
      </p:sp>
      <p:sp>
        <p:nvSpPr>
          <p:cNvPr id="15" name="Text 13"/>
          <p:cNvSpPr txBox="1"/>
          <p:nvPr/>
        </p:nvSpPr>
        <p:spPr>
          <a:xfrm>
            <a:off x="4663440" y="2441448"/>
            <a:ext cx="6766560" cy="713232"/>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Wo können wir schneller sein als der Markt, etwa mit einer Fokusbranche?</a:t>
            </a:r>
            <a:endParaRPr lang="en-US" sz="1500" dirty="0"/>
          </a:p>
        </p:txBody>
      </p:sp>
      <p:sp>
        <p:nvSpPr>
          <p:cNvPr id="16" name="Shape 14"/>
          <p:cNvSpPr/>
          <p:nvPr/>
        </p:nvSpPr>
        <p:spPr>
          <a:xfrm>
            <a:off x="548640" y="3282696"/>
            <a:ext cx="11091672" cy="713232"/>
          </a:xfrm>
          <a:prstGeom prst="roundRect">
            <a:avLst>
              <a:gd name="adj" fmla="val 12821"/>
            </a:avLst>
          </a:prstGeom>
          <a:solidFill>
            <a:srgbClr val="F3F5F7"/>
          </a:solidFill>
          <a:ln w="9525">
            <a:solidFill>
              <a:srgbClr val="F3F5F7"/>
            </a:solidFill>
            <a:prstDash val="solid"/>
          </a:ln>
        </p:spPr>
      </p:sp>
      <p:sp>
        <p:nvSpPr>
          <p:cNvPr id="17" name="Shape 15"/>
          <p:cNvSpPr/>
          <p:nvPr/>
        </p:nvSpPr>
        <p:spPr>
          <a:xfrm>
            <a:off x="749808" y="3401568"/>
            <a:ext cx="475488" cy="475488"/>
          </a:xfrm>
          <a:prstGeom prst="ellipse">
            <a:avLst/>
          </a:prstGeom>
          <a:solidFill>
            <a:srgbClr val="B04A16"/>
          </a:solidFill>
          <a:ln w="6350">
            <a:solidFill>
              <a:srgbClr val="B04A16"/>
            </a:solidFill>
            <a:prstDash val="solid"/>
          </a:ln>
        </p:spPr>
      </p:sp>
      <p:sp>
        <p:nvSpPr>
          <p:cNvPr id="18" name="Text 16"/>
          <p:cNvSpPr txBox="1"/>
          <p:nvPr/>
        </p:nvSpPr>
        <p:spPr>
          <a:xfrm>
            <a:off x="749808" y="34015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1463040" y="3282696"/>
            <a:ext cx="3108960" cy="713232"/>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Konsumentenstudie</a:t>
            </a:r>
            <a:endParaRPr lang="en-US" sz="1600" dirty="0"/>
          </a:p>
        </p:txBody>
      </p:sp>
      <p:sp>
        <p:nvSpPr>
          <p:cNvPr id="20" name="Text 18"/>
          <p:cNvSpPr txBox="1"/>
          <p:nvPr/>
        </p:nvSpPr>
        <p:spPr>
          <a:xfrm>
            <a:off x="4663440" y="3282696"/>
            <a:ext cx="6766560" cy="713232"/>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Rechtfertigt der mögliche Mehrwert den hohen Aufwand?</a:t>
            </a:r>
            <a:endParaRPr lang="en-US" sz="1500" dirty="0"/>
          </a:p>
        </p:txBody>
      </p:sp>
      <p:sp>
        <p:nvSpPr>
          <p:cNvPr id="21" name="Shape 19"/>
          <p:cNvSpPr/>
          <p:nvPr/>
        </p:nvSpPr>
        <p:spPr>
          <a:xfrm>
            <a:off x="548640" y="4123944"/>
            <a:ext cx="11091672" cy="713232"/>
          </a:xfrm>
          <a:prstGeom prst="roundRect">
            <a:avLst>
              <a:gd name="adj" fmla="val 12821"/>
            </a:avLst>
          </a:prstGeom>
          <a:solidFill>
            <a:srgbClr val="FFFFFF"/>
          </a:solidFill>
          <a:ln w="9525">
            <a:solidFill>
              <a:srgbClr val="D9DDE2"/>
            </a:solidFill>
            <a:prstDash val="solid"/>
          </a:ln>
        </p:spPr>
      </p:sp>
      <p:sp>
        <p:nvSpPr>
          <p:cNvPr id="22" name="Shape 20"/>
          <p:cNvSpPr/>
          <p:nvPr/>
        </p:nvSpPr>
        <p:spPr>
          <a:xfrm>
            <a:off x="749808" y="4242816"/>
            <a:ext cx="475488" cy="475488"/>
          </a:xfrm>
          <a:prstGeom prst="ellipse">
            <a:avLst/>
          </a:prstGeom>
          <a:solidFill>
            <a:srgbClr val="B04A16"/>
          </a:solidFill>
          <a:ln w="6350">
            <a:solidFill>
              <a:srgbClr val="B04A16"/>
            </a:solidFill>
            <a:prstDash val="solid"/>
          </a:ln>
        </p:spPr>
      </p:sp>
      <p:sp>
        <p:nvSpPr>
          <p:cNvPr id="23" name="Text 21"/>
          <p:cNvSpPr txBox="1"/>
          <p:nvPr/>
        </p:nvSpPr>
        <p:spPr>
          <a:xfrm>
            <a:off x="749808" y="42428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1463040" y="4123944"/>
            <a:ext cx="3108960" cy="713232"/>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Monitoring und interne Revision</a:t>
            </a:r>
            <a:endParaRPr lang="en-US" sz="1600" dirty="0"/>
          </a:p>
        </p:txBody>
      </p:sp>
      <p:sp>
        <p:nvSpPr>
          <p:cNvPr id="25" name="Text 23"/>
          <p:cNvSpPr txBox="1"/>
          <p:nvPr/>
        </p:nvSpPr>
        <p:spPr>
          <a:xfrm>
            <a:off x="4663440" y="4123944"/>
            <a:ext cx="6766560" cy="713232"/>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Wie grenzen wir das laufende Claim-Monitoring von den Prozessen der internen Revision ab?</a:t>
            </a:r>
            <a:endParaRPr lang="en-US" sz="1500" dirty="0"/>
          </a:p>
        </p:txBody>
      </p:sp>
      <p:sp>
        <p:nvSpPr>
          <p:cNvPr id="26" name="Shape 24"/>
          <p:cNvSpPr/>
          <p:nvPr/>
        </p:nvSpPr>
        <p:spPr>
          <a:xfrm>
            <a:off x="548640" y="4965192"/>
            <a:ext cx="11091672" cy="713232"/>
          </a:xfrm>
          <a:prstGeom prst="roundRect">
            <a:avLst>
              <a:gd name="adj" fmla="val 12821"/>
            </a:avLst>
          </a:prstGeom>
          <a:solidFill>
            <a:srgbClr val="F3F5F7"/>
          </a:solidFill>
          <a:ln w="9525">
            <a:solidFill>
              <a:srgbClr val="F3F5F7"/>
            </a:solidFill>
            <a:prstDash val="solid"/>
          </a:ln>
        </p:spPr>
      </p:sp>
      <p:sp>
        <p:nvSpPr>
          <p:cNvPr id="27" name="Shape 25"/>
          <p:cNvSpPr/>
          <p:nvPr/>
        </p:nvSpPr>
        <p:spPr>
          <a:xfrm>
            <a:off x="749808" y="5084064"/>
            <a:ext cx="475488" cy="475488"/>
          </a:xfrm>
          <a:prstGeom prst="ellipse">
            <a:avLst/>
          </a:prstGeom>
          <a:solidFill>
            <a:srgbClr val="B04A16"/>
          </a:solidFill>
          <a:ln w="6350">
            <a:solidFill>
              <a:srgbClr val="B04A16"/>
            </a:solidFill>
            <a:prstDash val="solid"/>
          </a:ln>
        </p:spPr>
      </p:sp>
      <p:sp>
        <p:nvSpPr>
          <p:cNvPr id="28" name="Text 26"/>
          <p:cNvSpPr txBox="1"/>
          <p:nvPr/>
        </p:nvSpPr>
        <p:spPr>
          <a:xfrm>
            <a:off x="749808" y="508406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txBox="1"/>
          <p:nvPr/>
        </p:nvSpPr>
        <p:spPr>
          <a:xfrm>
            <a:off x="1463040" y="4965192"/>
            <a:ext cx="3108960" cy="713232"/>
          </a:xfrm>
          <a:prstGeom prst="rect">
            <a:avLst/>
          </a:prstGeom>
          <a:noFill/>
          <a:ln/>
        </p:spPr>
        <p:txBody>
          <a:bodyPr wrap="square" lIns="0" tIns="0" rIns="0" bIns="0"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Vertiefung</a:t>
            </a:r>
            <a:endParaRPr lang="en-US" sz="1600" dirty="0"/>
          </a:p>
        </p:txBody>
      </p:sp>
      <p:sp>
        <p:nvSpPr>
          <p:cNvPr id="30" name="Text 28"/>
          <p:cNvSpPr txBox="1"/>
          <p:nvPr/>
        </p:nvSpPr>
        <p:spPr>
          <a:xfrm>
            <a:off x="4663440" y="4965192"/>
            <a:ext cx="6766560" cy="713232"/>
          </a:xfrm>
          <a:prstGeom prst="rect">
            <a:avLst/>
          </a:prstGeom>
          <a:noFill/>
          <a:ln/>
        </p:spPr>
        <p:txBody>
          <a:bodyPr wrap="square" lIns="0" tIns="0" rIns="0" bIns="0" rtlCol="0" anchor="ctr"/>
          <a:lstStyle/>
          <a:p>
            <a:pPr indent="0" marL="0">
              <a:buNone/>
            </a:pPr>
            <a:r>
              <a:rPr lang="en-US" sz="1500" dirty="0">
                <a:solidFill>
                  <a:srgbClr val="4A5A6C"/>
                </a:solidFill>
                <a:latin typeface="Calibri" pitchFamily="34" charset="0"/>
                <a:ea typeface="Calibri" pitchFamily="34" charset="-122"/>
                <a:cs typeface="Calibri" pitchFamily="34" charset="-120"/>
              </a:rPr>
              <a:t>Ergänzen wir die Analyse messbarer Verbesserungen und der Wertschöpfungskette?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ANHANG</a:t>
            </a:r>
            <a:endParaRPr lang="en-US" sz="1200" dirty="0"/>
          </a:p>
        </p:txBody>
      </p:sp>
      <p:sp>
        <p:nvSpPr>
          <p:cNvPr id="3" name="Text 1"/>
          <p:cNvSpPr txBox="1"/>
          <p:nvPr/>
        </p:nvSpPr>
        <p:spPr>
          <a:xfrm>
            <a:off x="548640" y="694944"/>
            <a:ext cx="11064240" cy="658368"/>
          </a:xfrm>
          <a:prstGeom prst="rect">
            <a:avLst/>
          </a:prstGeom>
          <a:noFill/>
          <a:ln/>
        </p:spPr>
        <p:txBody>
          <a:bodyPr wrap="square" lIns="0" tIns="0" rIns="0" bIns="0" rtlCol="0" anchor="t"/>
          <a:lstStyle/>
          <a:p>
            <a:pPr indent="0" marL="0">
              <a:buNone/>
            </a:pPr>
            <a:r>
              <a:rPr lang="en-US" sz="3000" b="1" dirty="0">
                <a:solidFill>
                  <a:srgbClr val="13233A"/>
                </a:solidFill>
                <a:latin typeface="Cambria" pitchFamily="34" charset="0"/>
                <a:ea typeface="Cambria" pitchFamily="34" charset="-122"/>
                <a:cs typeface="Cambria" pitchFamily="34" charset="-120"/>
              </a:rPr>
              <a:t>Quellen</a:t>
            </a:r>
            <a:endParaRPr lang="en-US" sz="3000" dirty="0"/>
          </a:p>
        </p:txBody>
      </p:sp>
      <p:sp>
        <p:nvSpPr>
          <p:cNvPr id="4" name="Text 2"/>
          <p:cNvSpPr txBox="1"/>
          <p:nvPr/>
        </p:nvSpPr>
        <p:spPr>
          <a:xfrm>
            <a:off x="548640" y="6382512"/>
            <a:ext cx="10332720" cy="274320"/>
          </a:xfrm>
          <a:prstGeom prst="rect">
            <a:avLst/>
          </a:prstGeom>
          <a:noFill/>
          <a:ln/>
        </p:spPr>
        <p:txBody>
          <a:bodyPr wrap="square" lIns="0" tIns="0" rIns="0" bIns="0" rtlCol="0" anchor="ctr"/>
          <a:lstStyle/>
          <a:p>
            <a:pPr indent="0" marL="0">
              <a:buNone/>
            </a:pPr>
            <a:r>
              <a:rPr lang="en-US" sz="1000" dirty="0">
                <a:solidFill>
                  <a:srgbClr val="4A5A6C"/>
                </a:solidFill>
                <a:latin typeface="Calibri" pitchFamily="34" charset="0"/>
                <a:ea typeface="Calibri" pitchFamily="34" charset="-122"/>
                <a:cs typeface="Calibri" pitchFamily="34" charset="-120"/>
              </a:rPr>
              <a:t>Alle Quellen stammen aus der Analyse; Stand der Links: 29.09.2026</a:t>
            </a:r>
            <a:endParaRPr lang="en-US" sz="1000" dirty="0"/>
          </a:p>
        </p:txBody>
      </p:sp>
      <p:sp>
        <p:nvSpPr>
          <p:cNvPr id="5" name="Text 3"/>
          <p:cNvSpPr txBox="1"/>
          <p:nvPr/>
        </p:nvSpPr>
        <p:spPr>
          <a:xfrm>
            <a:off x="11091672" y="6382512"/>
            <a:ext cx="548640" cy="274320"/>
          </a:xfrm>
          <a:prstGeom prst="rect">
            <a:avLst/>
          </a:prstGeom>
          <a:noFill/>
          <a:ln/>
        </p:spPr>
        <p:txBody>
          <a:bodyPr wrap="square" lIns="0" tIns="0" rIns="0" bIns="0" rtlCol="0" anchor="ctr"/>
          <a:lstStyle/>
          <a:p>
            <a:pPr algn="r" indent="0" marL="0">
              <a:buNone/>
            </a:pPr>
            <a:r>
              <a:rPr lang="en-US" sz="1000" dirty="0">
                <a:solidFill>
                  <a:srgbClr val="4A5A6C"/>
                </a:solidFill>
                <a:latin typeface="Calibri" pitchFamily="34" charset="0"/>
                <a:ea typeface="Calibri" pitchFamily="34" charset="-122"/>
                <a:cs typeface="Calibri" pitchFamily="34" charset="-120"/>
              </a:rPr>
              <a:t>14</a:t>
            </a:r>
            <a:endParaRPr lang="en-US" sz="1000" dirty="0"/>
          </a:p>
        </p:txBody>
      </p:sp>
      <p:sp>
        <p:nvSpPr>
          <p:cNvPr id="6" name="Text 4"/>
          <p:cNvSpPr txBox="1"/>
          <p:nvPr/>
        </p:nvSpPr>
        <p:spPr>
          <a:xfrm>
            <a:off x="548640" y="1572768"/>
            <a:ext cx="5440680" cy="4572000"/>
          </a:xfrm>
          <a:prstGeom prst="rect">
            <a:avLst/>
          </a:prstGeom>
          <a:noFill/>
          <a:ln/>
        </p:spPr>
        <p:txBody>
          <a:bodyPr wrap="square" lIns="0" tIns="0" rIns="0" bIns="0" rtlCol="0" anchor="t"/>
          <a:lstStyle/>
          <a:p>
            <a:pPr indent="0" marL="0">
              <a:spcAft>
                <a:spcPts val="600"/>
              </a:spcAft>
              <a:buNone/>
            </a:pPr>
            <a:r>
              <a:rPr lang="en-US" sz="1100" b="1" spc="100" kern="0" dirty="0">
                <a:solidFill>
                  <a:srgbClr val="1F6F63"/>
                </a:solidFill>
                <a:latin typeface="Calibri" pitchFamily="34" charset="0"/>
                <a:ea typeface="Calibri" pitchFamily="34" charset="-122"/>
                <a:cs typeface="Calibri" pitchFamily="34" charset="-120"/>
              </a:rPr>
              <a:t>RECHT UND BERUFSSTAND</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Richtlinie (EU) 2024/825, Erwägungsgründe 4 und 7</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WPK: Neue Vorgaben für Umweltaussagen – Betätigungsfeld für den Berufsstand</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IDW: UWG-Novelle führt zu Rechtsunsicherheit bei Nachhaltigkeitsaussagen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IDW: Mustervermerke zur Prüfung von Umsetzungsplänen</a:t>
            </a:r>
            <a:endParaRPr lang="en-US" sz="1100" dirty="0"/>
          </a:p>
          <a:p>
            <a:pPr indent="0" marL="0">
              <a:spcBef>
                <a:spcPts val="1000"/>
              </a:spcBef>
              <a:spcAft>
                <a:spcPts val="600"/>
              </a:spcAft>
              <a:buNone/>
            </a:pPr>
            <a:r>
              <a:rPr lang="en-US" sz="1100" b="1" spc="100" kern="0" dirty="0">
                <a:solidFill>
                  <a:srgbClr val="1F6F63"/>
                </a:solidFill>
                <a:latin typeface="Calibri" pitchFamily="34" charset="0"/>
                <a:ea typeface="Calibri" pitchFamily="34" charset="-122"/>
                <a:cs typeface="Calibri" pitchFamily="34" charset="-120"/>
              </a:rPr>
              <a:t>FACHMEDIEN UND STUDIEN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Haufe: Studie – Jede zweite Firma kommuniziert regelwidrig</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Haufe: Green Claims – vom Rechtscheck zum dauerhaften Prüfprozess</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McKinsey und NielsenIQ: Consumers care about sustainability</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Bain, über ESG Today: Consumer concern about sustainability increases</a:t>
            </a:r>
            <a:endParaRPr lang="en-US" sz="1100" dirty="0"/>
          </a:p>
        </p:txBody>
      </p:sp>
      <p:sp>
        <p:nvSpPr>
          <p:cNvPr id="7" name="Text 5"/>
          <p:cNvSpPr txBox="1"/>
          <p:nvPr/>
        </p:nvSpPr>
        <p:spPr>
          <a:xfrm>
            <a:off x="6199632" y="1572768"/>
            <a:ext cx="5440680" cy="4572000"/>
          </a:xfrm>
          <a:prstGeom prst="rect">
            <a:avLst/>
          </a:prstGeom>
          <a:noFill/>
          <a:ln/>
        </p:spPr>
        <p:txBody>
          <a:bodyPr wrap="square" lIns="0" tIns="0" rIns="0" bIns="0" rtlCol="0" anchor="t"/>
          <a:lstStyle/>
          <a:p>
            <a:pPr indent="0" marL="0">
              <a:spcAft>
                <a:spcPts val="600"/>
              </a:spcAft>
              <a:buNone/>
            </a:pPr>
            <a:r>
              <a:rPr lang="en-US" sz="1100" b="1" spc="100" kern="0" dirty="0">
                <a:solidFill>
                  <a:srgbClr val="1F6F63"/>
                </a:solidFill>
                <a:latin typeface="Calibri" pitchFamily="34" charset="0"/>
                <a:ea typeface="Calibri" pitchFamily="34" charset="-122"/>
                <a:cs typeface="Calibri" pitchFamily="34" charset="-120"/>
              </a:rPr>
              <a:t>BERATUNGS- UND PRÜFHÄUSER</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KPMG: EmpCo 2026 – Neue Regeln für Umweltangaben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PwC: Green Claims – Stresstest für die Governance?</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PwC Blog: Umweltbezogene Angaben und Nachhaltigkeitskennzeichnungen 2026</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EY Österreich: EmpCo-Richtlinie – Greenwashing vermeiden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Deloitte Österreich: EU Greenwashing Directive</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Deloitte Insights: EU 2025 Sustainability Regulation Outlook</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Grant Thornton Österreich: EmpCo &amp; Green Claims Compliance</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Rödl &amp; Partner: EmpCo – neue Regelungen für Umweltaussagen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Rödl &amp; Partner: EmpCo – Was Stadtwerke bei Umweltclaims beachten müssen</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Rödl &amp; Partner: Flyer Dekarbonisierung, Nachhaltigkeit, Greenwashing</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Simon-Kucher: Neue EU-Regeln gegen Greenwashing (Verpackung)</a:t>
            </a:r>
            <a:endParaRPr lang="en-US" sz="1100" dirty="0"/>
          </a:p>
          <a:p>
            <a:pPr indent="0" marL="0">
              <a:spcAft>
                <a:spcPts val="600"/>
              </a:spcAft>
              <a:buNone/>
            </a:pPr>
            <a:r>
              <a:rPr lang="en-US" sz="1200" u="sng" dirty="0">
                <a:solidFill>
                  <a:srgbClr val="13233A"/>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TÜV Rheinland Consulting: Green Claims Quick Check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Chancen EmpCo und Marktanalyse – Debriefing</dc:title>
  <dc:subject>EmpCo/UWG: Branchen, Assurance, Managementsystem, Wettbewerb, USP</dc:subject>
  <dc:creator>PptxGenJS</dc:creator>
  <cp:lastModifiedBy>PptxGenJS</cp:lastModifiedBy>
  <cp:revision>1</cp:revision>
  <dcterms:created xsi:type="dcterms:W3CDTF">2026-09-29T09:35:26Z</dcterms:created>
  <dcterms:modified xsi:type="dcterms:W3CDTF">2026-09-29T09:35:26Z</dcterms:modified>
</cp:coreProperties>
</file>